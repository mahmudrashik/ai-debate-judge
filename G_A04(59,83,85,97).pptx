
<file path=[Content_Types].xml><?xml version="1.0" encoding="utf-8"?>
<Types xmlns="http://schemas.openxmlformats.org/package/2006/content-types">
  <Default ContentType="application/x-fontdata" Extension="fntdata"/>
  <Default ContentType="image/jpeg" Extension="jpeg"/>
  <Default ContentType="image/png" Extension="png"/>
  <Default ContentType="application/vnd.openxmlformats-package.relationships+xml" Extension="rels"/>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sldIdLst>
    <p:sldId id="256" r:id="rId6"/>
  </p:sldIdLst>
  <p:sldSz cx="43891200" cy="32918400"/>
  <p:notesSz cx="6858000" cy="9144000"/>
  <p:embeddedFontLst>
    <p:embeddedFont>
      <p:font typeface="Times New Roman Bold" charset="1" panose="02020803070505020304"/>
      <p:regular r:id="rId7"/>
    </p:embeddedFont>
    <p:embeddedFont>
      <p:font typeface="Times New Roman" charset="1" panose="02020603050405020304"/>
      <p:regular r:id="rId8"/>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2" Target="presProps.xml" Type="http://schemas.openxmlformats.org/officeDocument/2006/relationships/presProps"/><Relationship Id="rId3" Target="viewProps.xml" Type="http://schemas.openxmlformats.org/officeDocument/2006/relationships/viewProps"/><Relationship Id="rId4" Target="theme/theme1.xml" Type="http://schemas.openxmlformats.org/officeDocument/2006/relationships/theme"/><Relationship Id="rId5" Target="tableStyles.xml" Type="http://schemas.openxmlformats.org/officeDocument/2006/relationships/tableStyles"/><Relationship Id="rId6" Target="slides/slide1.xml" Type="http://schemas.openxmlformats.org/officeDocument/2006/relationships/slide"/><Relationship Id="rId7" Target="fonts/font7.fntdata" Type="http://schemas.openxmlformats.org/officeDocument/2006/relationships/font"/><Relationship Id="rId8" Target="fonts/font8.fntdata" Type="http://schemas.openxmlformats.org/officeDocument/2006/relationships/font"/></Relationship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png" Type="http://schemas.openxmlformats.org/officeDocument/2006/relationships/image"/><Relationship Id="rId4" Target="../media/image3.png" Type="http://schemas.openxmlformats.org/officeDocument/2006/relationships/image"/><Relationship Id="rId5" Target="../media/image4.png" Type="http://schemas.openxmlformats.org/officeDocument/2006/relationships/image"/><Relationship Id="rId6" Target="../media/image5.png" Type="http://schemas.openxmlformats.org/officeDocument/2006/relationships/image"/><Relationship Id="rId7" Target="../media/image6.png" Type="http://schemas.openxmlformats.org/officeDocument/2006/relationships/image"/><Relationship Id="rId8" Target="../media/image7.png" Type="http://schemas.openxmlformats.org/officeDocument/2006/relationships/image"/></Relationships>
</file>

<file path=ppt/slides/slide1.xml><?xml version="1.0" encoding="utf-8"?>
<p:sld xmlns:p="http://schemas.openxmlformats.org/presentationml/2006/main" xmlns:a="http://schemas.openxmlformats.org/drawingml/2006/main" xmlns:r="http://schemas.openxmlformats.org/officeDocument/2006/relationships">
  <p:cSld>
    <p:bg>
      <p:bgPr>
        <a:gradFill rotWithShape="true">
          <a:gsLst>
            <a:gs pos="0">
              <a:srgbClr val="DBDBDB">
                <a:alpha val="100000"/>
              </a:srgbClr>
            </a:gs>
            <a:gs pos="100000">
              <a:srgbClr val="FFFFFF">
                <a:alpha val="100000"/>
              </a:srgbClr>
            </a:gs>
          </a:gsLst>
          <a:lin ang="5400000"/>
        </a:gradFill>
      </p:bgPr>
    </p:bg>
    <p:spTree>
      <p:nvGrpSpPr>
        <p:cNvPr id="1" name=""/>
        <p:cNvGrpSpPr/>
        <p:nvPr/>
      </p:nvGrpSpPr>
      <p:grpSpPr>
        <a:xfrm>
          <a:off x="0" y="0"/>
          <a:ext cx="0" cy="0"/>
          <a:chOff x="0" y="0"/>
          <a:chExt cx="0" cy="0"/>
        </a:xfrm>
      </p:grpSpPr>
      <p:grpSp>
        <p:nvGrpSpPr>
          <p:cNvPr name="Group 2" id="2"/>
          <p:cNvGrpSpPr/>
          <p:nvPr/>
        </p:nvGrpSpPr>
        <p:grpSpPr>
          <a:xfrm rot="0">
            <a:off x="446070" y="7025608"/>
            <a:ext cx="10058414" cy="25892792"/>
            <a:chOff x="0" y="0"/>
            <a:chExt cx="2980271" cy="7671938"/>
          </a:xfrm>
        </p:grpSpPr>
        <p:sp>
          <p:nvSpPr>
            <p:cNvPr name="Freeform 3" id="3"/>
            <p:cNvSpPr/>
            <p:nvPr/>
          </p:nvSpPr>
          <p:spPr>
            <a:xfrm flipH="false" flipV="false" rot="0">
              <a:off x="0" y="0"/>
              <a:ext cx="2980309" cy="7671963"/>
            </a:xfrm>
            <a:custGeom>
              <a:avLst/>
              <a:gdLst/>
              <a:ahLst/>
              <a:cxnLst/>
              <a:rect r="r" b="b" t="t" l="l"/>
              <a:pathLst>
                <a:path h="7671963" w="2980309">
                  <a:moveTo>
                    <a:pt x="0" y="56453"/>
                  </a:moveTo>
                  <a:cubicBezTo>
                    <a:pt x="0" y="25336"/>
                    <a:pt x="26162" y="0"/>
                    <a:pt x="58293" y="0"/>
                  </a:cubicBezTo>
                  <a:lnTo>
                    <a:pt x="2922016" y="0"/>
                  </a:lnTo>
                  <a:cubicBezTo>
                    <a:pt x="2954274" y="0"/>
                    <a:pt x="2980309" y="25336"/>
                    <a:pt x="2980309" y="56453"/>
                  </a:cubicBezTo>
                  <a:lnTo>
                    <a:pt x="2980309" y="7615510"/>
                  </a:lnTo>
                  <a:cubicBezTo>
                    <a:pt x="2980309" y="7646750"/>
                    <a:pt x="2954147" y="7671963"/>
                    <a:pt x="2922016" y="7671963"/>
                  </a:cubicBezTo>
                  <a:lnTo>
                    <a:pt x="58293" y="7671963"/>
                  </a:lnTo>
                  <a:cubicBezTo>
                    <a:pt x="26035" y="7671963"/>
                    <a:pt x="0" y="7646626"/>
                    <a:pt x="0" y="7615510"/>
                  </a:cubicBezTo>
                  <a:close/>
                </a:path>
              </a:pathLst>
            </a:custGeom>
            <a:gradFill rotWithShape="true">
              <a:gsLst>
                <a:gs pos="0">
                  <a:srgbClr val="B8B8B8">
                    <a:alpha val="100000"/>
                  </a:srgbClr>
                </a:gs>
                <a:gs pos="100000">
                  <a:srgbClr val="FFFFFF">
                    <a:alpha val="100000"/>
                  </a:srgbClr>
                </a:gs>
              </a:gsLst>
              <a:lin ang="5400000"/>
            </a:gradFill>
          </p:spPr>
        </p:sp>
      </p:grpSp>
      <p:grpSp>
        <p:nvGrpSpPr>
          <p:cNvPr name="Group 4" id="4"/>
          <p:cNvGrpSpPr/>
          <p:nvPr/>
        </p:nvGrpSpPr>
        <p:grpSpPr>
          <a:xfrm rot="0">
            <a:off x="11429476" y="7025608"/>
            <a:ext cx="10058414" cy="25892792"/>
            <a:chOff x="0" y="0"/>
            <a:chExt cx="2980271" cy="7671938"/>
          </a:xfrm>
        </p:grpSpPr>
        <p:sp>
          <p:nvSpPr>
            <p:cNvPr name="Freeform 5" id="5"/>
            <p:cNvSpPr/>
            <p:nvPr/>
          </p:nvSpPr>
          <p:spPr>
            <a:xfrm flipH="false" flipV="false" rot="0">
              <a:off x="0" y="0"/>
              <a:ext cx="2980309" cy="7671963"/>
            </a:xfrm>
            <a:custGeom>
              <a:avLst/>
              <a:gdLst/>
              <a:ahLst/>
              <a:cxnLst/>
              <a:rect r="r" b="b" t="t" l="l"/>
              <a:pathLst>
                <a:path h="7671963" w="2980309">
                  <a:moveTo>
                    <a:pt x="0" y="56453"/>
                  </a:moveTo>
                  <a:cubicBezTo>
                    <a:pt x="0" y="25336"/>
                    <a:pt x="26162" y="0"/>
                    <a:pt x="58293" y="0"/>
                  </a:cubicBezTo>
                  <a:lnTo>
                    <a:pt x="2922016" y="0"/>
                  </a:lnTo>
                  <a:cubicBezTo>
                    <a:pt x="2954274" y="0"/>
                    <a:pt x="2980309" y="25336"/>
                    <a:pt x="2980309" y="56453"/>
                  </a:cubicBezTo>
                  <a:lnTo>
                    <a:pt x="2980309" y="7615510"/>
                  </a:lnTo>
                  <a:cubicBezTo>
                    <a:pt x="2980309" y="7646750"/>
                    <a:pt x="2954147" y="7671963"/>
                    <a:pt x="2922016" y="7671963"/>
                  </a:cubicBezTo>
                  <a:lnTo>
                    <a:pt x="58293" y="7671963"/>
                  </a:lnTo>
                  <a:cubicBezTo>
                    <a:pt x="26035" y="7671963"/>
                    <a:pt x="0" y="7646626"/>
                    <a:pt x="0" y="7615510"/>
                  </a:cubicBezTo>
                  <a:close/>
                </a:path>
              </a:pathLst>
            </a:custGeom>
            <a:gradFill rotWithShape="true">
              <a:gsLst>
                <a:gs pos="0">
                  <a:srgbClr val="B8B8B8">
                    <a:alpha val="100000"/>
                  </a:srgbClr>
                </a:gs>
                <a:gs pos="100000">
                  <a:srgbClr val="FFFFFF">
                    <a:alpha val="100000"/>
                  </a:srgbClr>
                </a:gs>
              </a:gsLst>
              <a:lin ang="5400000"/>
            </a:gradFill>
          </p:spPr>
        </p:sp>
      </p:grpSp>
      <p:grpSp>
        <p:nvGrpSpPr>
          <p:cNvPr name="Group 6" id="6"/>
          <p:cNvGrpSpPr/>
          <p:nvPr/>
        </p:nvGrpSpPr>
        <p:grpSpPr>
          <a:xfrm rot="0">
            <a:off x="22411815" y="7025608"/>
            <a:ext cx="10058414" cy="25892792"/>
            <a:chOff x="0" y="0"/>
            <a:chExt cx="2980271" cy="7671938"/>
          </a:xfrm>
        </p:grpSpPr>
        <p:sp>
          <p:nvSpPr>
            <p:cNvPr name="Freeform 7" id="7"/>
            <p:cNvSpPr/>
            <p:nvPr/>
          </p:nvSpPr>
          <p:spPr>
            <a:xfrm flipH="false" flipV="false" rot="0">
              <a:off x="0" y="0"/>
              <a:ext cx="2980309" cy="7671963"/>
            </a:xfrm>
            <a:custGeom>
              <a:avLst/>
              <a:gdLst/>
              <a:ahLst/>
              <a:cxnLst/>
              <a:rect r="r" b="b" t="t" l="l"/>
              <a:pathLst>
                <a:path h="7671963" w="2980309">
                  <a:moveTo>
                    <a:pt x="0" y="56453"/>
                  </a:moveTo>
                  <a:cubicBezTo>
                    <a:pt x="0" y="25336"/>
                    <a:pt x="26162" y="0"/>
                    <a:pt x="58293" y="0"/>
                  </a:cubicBezTo>
                  <a:lnTo>
                    <a:pt x="2922016" y="0"/>
                  </a:lnTo>
                  <a:cubicBezTo>
                    <a:pt x="2954274" y="0"/>
                    <a:pt x="2980309" y="25336"/>
                    <a:pt x="2980309" y="56453"/>
                  </a:cubicBezTo>
                  <a:lnTo>
                    <a:pt x="2980309" y="7615510"/>
                  </a:lnTo>
                  <a:cubicBezTo>
                    <a:pt x="2980309" y="7646750"/>
                    <a:pt x="2954147" y="7671963"/>
                    <a:pt x="2922016" y="7671963"/>
                  </a:cubicBezTo>
                  <a:lnTo>
                    <a:pt x="58293" y="7671963"/>
                  </a:lnTo>
                  <a:cubicBezTo>
                    <a:pt x="26035" y="7671963"/>
                    <a:pt x="0" y="7646626"/>
                    <a:pt x="0" y="7615510"/>
                  </a:cubicBezTo>
                  <a:close/>
                </a:path>
              </a:pathLst>
            </a:custGeom>
            <a:gradFill rotWithShape="true">
              <a:gsLst>
                <a:gs pos="0">
                  <a:srgbClr val="B8B8B8">
                    <a:alpha val="100000"/>
                  </a:srgbClr>
                </a:gs>
                <a:gs pos="100000">
                  <a:srgbClr val="FFFFFF">
                    <a:alpha val="100000"/>
                  </a:srgbClr>
                </a:gs>
              </a:gsLst>
              <a:lin ang="5400000"/>
            </a:gradFill>
          </p:spPr>
        </p:sp>
      </p:grpSp>
      <p:grpSp>
        <p:nvGrpSpPr>
          <p:cNvPr name="Group 8" id="8"/>
          <p:cNvGrpSpPr/>
          <p:nvPr/>
        </p:nvGrpSpPr>
        <p:grpSpPr>
          <a:xfrm rot="0">
            <a:off x="33394645" y="7025608"/>
            <a:ext cx="10058414" cy="25892792"/>
            <a:chOff x="0" y="0"/>
            <a:chExt cx="2980271" cy="7671938"/>
          </a:xfrm>
        </p:grpSpPr>
        <p:sp>
          <p:nvSpPr>
            <p:cNvPr name="Freeform 9" id="9"/>
            <p:cNvSpPr/>
            <p:nvPr/>
          </p:nvSpPr>
          <p:spPr>
            <a:xfrm flipH="false" flipV="false" rot="0">
              <a:off x="0" y="0"/>
              <a:ext cx="2980309" cy="7671963"/>
            </a:xfrm>
            <a:custGeom>
              <a:avLst/>
              <a:gdLst/>
              <a:ahLst/>
              <a:cxnLst/>
              <a:rect r="r" b="b" t="t" l="l"/>
              <a:pathLst>
                <a:path h="7671963" w="2980309">
                  <a:moveTo>
                    <a:pt x="0" y="56453"/>
                  </a:moveTo>
                  <a:cubicBezTo>
                    <a:pt x="0" y="25336"/>
                    <a:pt x="26162" y="0"/>
                    <a:pt x="58293" y="0"/>
                  </a:cubicBezTo>
                  <a:lnTo>
                    <a:pt x="2922016" y="0"/>
                  </a:lnTo>
                  <a:cubicBezTo>
                    <a:pt x="2954274" y="0"/>
                    <a:pt x="2980309" y="25336"/>
                    <a:pt x="2980309" y="56453"/>
                  </a:cubicBezTo>
                  <a:lnTo>
                    <a:pt x="2980309" y="7615510"/>
                  </a:lnTo>
                  <a:cubicBezTo>
                    <a:pt x="2980309" y="7646750"/>
                    <a:pt x="2954147" y="7671963"/>
                    <a:pt x="2922016" y="7671963"/>
                  </a:cubicBezTo>
                  <a:lnTo>
                    <a:pt x="58293" y="7671963"/>
                  </a:lnTo>
                  <a:cubicBezTo>
                    <a:pt x="26035" y="7671963"/>
                    <a:pt x="0" y="7646626"/>
                    <a:pt x="0" y="7615510"/>
                  </a:cubicBezTo>
                  <a:close/>
                </a:path>
              </a:pathLst>
            </a:custGeom>
            <a:gradFill rotWithShape="true">
              <a:gsLst>
                <a:gs pos="0">
                  <a:srgbClr val="B8B8B8">
                    <a:alpha val="100000"/>
                  </a:srgbClr>
                </a:gs>
                <a:gs pos="100000">
                  <a:srgbClr val="FFFFFF">
                    <a:alpha val="100000"/>
                  </a:srgbClr>
                </a:gs>
              </a:gsLst>
              <a:lin ang="5400000"/>
            </a:gradFill>
          </p:spPr>
        </p:sp>
      </p:grpSp>
      <p:grpSp>
        <p:nvGrpSpPr>
          <p:cNvPr name="Group 10" id="10"/>
          <p:cNvGrpSpPr/>
          <p:nvPr/>
        </p:nvGrpSpPr>
        <p:grpSpPr>
          <a:xfrm rot="0">
            <a:off x="0" y="87974"/>
            <a:ext cx="43891200" cy="6265532"/>
            <a:chOff x="0" y="0"/>
            <a:chExt cx="13004800" cy="1856454"/>
          </a:xfrm>
        </p:grpSpPr>
        <p:sp>
          <p:nvSpPr>
            <p:cNvPr name="Freeform 11" id="11"/>
            <p:cNvSpPr/>
            <p:nvPr/>
          </p:nvSpPr>
          <p:spPr>
            <a:xfrm flipH="false" flipV="false" rot="0">
              <a:off x="0" y="0"/>
              <a:ext cx="13004800" cy="1856454"/>
            </a:xfrm>
            <a:custGeom>
              <a:avLst/>
              <a:gdLst/>
              <a:ahLst/>
              <a:cxnLst/>
              <a:rect r="r" b="b" t="t" l="l"/>
              <a:pathLst>
                <a:path h="1856454" w="13004800">
                  <a:moveTo>
                    <a:pt x="0" y="36300"/>
                  </a:moveTo>
                  <a:cubicBezTo>
                    <a:pt x="0" y="16244"/>
                    <a:pt x="12446" y="0"/>
                    <a:pt x="27813" y="0"/>
                  </a:cubicBezTo>
                  <a:lnTo>
                    <a:pt x="12976987" y="0"/>
                  </a:lnTo>
                  <a:cubicBezTo>
                    <a:pt x="12992354" y="0"/>
                    <a:pt x="13004800" y="16244"/>
                    <a:pt x="13004800" y="36300"/>
                  </a:cubicBezTo>
                  <a:lnTo>
                    <a:pt x="13004800" y="1820153"/>
                  </a:lnTo>
                  <a:cubicBezTo>
                    <a:pt x="13004800" y="1840210"/>
                    <a:pt x="12992354" y="1856454"/>
                    <a:pt x="12976987" y="1856454"/>
                  </a:cubicBezTo>
                  <a:lnTo>
                    <a:pt x="27813" y="1856454"/>
                  </a:lnTo>
                  <a:cubicBezTo>
                    <a:pt x="12446" y="1856454"/>
                    <a:pt x="0" y="1840210"/>
                    <a:pt x="0" y="1820153"/>
                  </a:cubicBezTo>
                  <a:close/>
                </a:path>
              </a:pathLst>
            </a:custGeom>
            <a:gradFill rotWithShape="true">
              <a:gsLst>
                <a:gs pos="0">
                  <a:srgbClr val="B8B8B8">
                    <a:alpha val="100000"/>
                  </a:srgbClr>
                </a:gs>
                <a:gs pos="100000">
                  <a:srgbClr val="FFFFFF">
                    <a:alpha val="100000"/>
                  </a:srgbClr>
                </a:gs>
              </a:gsLst>
              <a:lin ang="5400000"/>
            </a:gradFill>
          </p:spPr>
        </p:sp>
      </p:grpSp>
      <p:sp>
        <p:nvSpPr>
          <p:cNvPr name="AutoShape 12" id="12"/>
          <p:cNvSpPr/>
          <p:nvPr/>
        </p:nvSpPr>
        <p:spPr>
          <a:xfrm flipV="true">
            <a:off x="107074" y="6353506"/>
            <a:ext cx="43783469" cy="95841"/>
          </a:xfrm>
          <a:prstGeom prst="line">
            <a:avLst/>
          </a:prstGeom>
          <a:ln cap="rnd" w="600075">
            <a:solidFill>
              <a:srgbClr val="4D4D4D"/>
            </a:solidFill>
            <a:prstDash val="solid"/>
            <a:headEnd type="none" len="sm" w="sm"/>
            <a:tailEnd type="none" len="sm" w="sm"/>
          </a:ln>
        </p:spPr>
      </p:sp>
      <p:grpSp>
        <p:nvGrpSpPr>
          <p:cNvPr name="Group 13" id="13"/>
          <p:cNvGrpSpPr/>
          <p:nvPr/>
        </p:nvGrpSpPr>
        <p:grpSpPr>
          <a:xfrm rot="0">
            <a:off x="1056355" y="7455278"/>
            <a:ext cx="8876302" cy="830262"/>
            <a:chOff x="0" y="0"/>
            <a:chExt cx="11835069" cy="1107017"/>
          </a:xfrm>
        </p:grpSpPr>
        <p:sp>
          <p:nvSpPr>
            <p:cNvPr name="TextBox 14" id="14"/>
            <p:cNvSpPr txBox="true"/>
            <p:nvPr/>
          </p:nvSpPr>
          <p:spPr>
            <a:xfrm rot="0">
              <a:off x="0" y="-133350"/>
              <a:ext cx="11783792" cy="1145117"/>
            </a:xfrm>
            <a:prstGeom prst="rect">
              <a:avLst/>
            </a:prstGeom>
          </p:spPr>
          <p:txBody>
            <a:bodyPr anchor="t" rtlCol="false" tIns="0" lIns="0" bIns="0" rIns="0">
              <a:spAutoFit/>
            </a:bodyPr>
            <a:lstStyle/>
            <a:p>
              <a:pPr algn="l">
                <a:lnSpc>
                  <a:spcPts val="7000"/>
                </a:lnSpc>
              </a:pPr>
              <a:r>
                <a:rPr lang="en-US" sz="5000" b="true">
                  <a:solidFill>
                    <a:srgbClr val="020C45"/>
                  </a:solidFill>
                  <a:latin typeface="Times New Roman Bold"/>
                  <a:ea typeface="Times New Roman Bold"/>
                  <a:cs typeface="Times New Roman Bold"/>
                  <a:sym typeface="Times New Roman Bold"/>
                </a:rPr>
                <a:t>ABSTRACT</a:t>
              </a:r>
            </a:p>
          </p:txBody>
        </p:sp>
        <p:sp>
          <p:nvSpPr>
            <p:cNvPr name="AutoShape 15" id="15"/>
            <p:cNvSpPr/>
            <p:nvPr/>
          </p:nvSpPr>
          <p:spPr>
            <a:xfrm flipV="true">
              <a:off x="0" y="1075267"/>
              <a:ext cx="11835069" cy="0"/>
            </a:xfrm>
            <a:prstGeom prst="line">
              <a:avLst/>
            </a:prstGeom>
            <a:ln cap="flat" w="63500">
              <a:solidFill>
                <a:srgbClr val="020C45"/>
              </a:solidFill>
              <a:prstDash val="solid"/>
              <a:headEnd type="none" len="sm" w="sm"/>
              <a:tailEnd type="none" len="sm" w="sm"/>
            </a:ln>
          </p:spPr>
        </p:sp>
      </p:grpSp>
      <p:grpSp>
        <p:nvGrpSpPr>
          <p:cNvPr name="Group 16" id="16"/>
          <p:cNvGrpSpPr/>
          <p:nvPr/>
        </p:nvGrpSpPr>
        <p:grpSpPr>
          <a:xfrm rot="0">
            <a:off x="1000692" y="15300385"/>
            <a:ext cx="8876302" cy="6930707"/>
            <a:chOff x="0" y="0"/>
            <a:chExt cx="11835069" cy="9240943"/>
          </a:xfrm>
        </p:grpSpPr>
        <p:sp>
          <p:nvSpPr>
            <p:cNvPr name="TextBox 17" id="17"/>
            <p:cNvSpPr txBox="true"/>
            <p:nvPr/>
          </p:nvSpPr>
          <p:spPr>
            <a:xfrm rot="0">
              <a:off x="0" y="-133350"/>
              <a:ext cx="11783792" cy="1145117"/>
            </a:xfrm>
            <a:prstGeom prst="rect">
              <a:avLst/>
            </a:prstGeom>
          </p:spPr>
          <p:txBody>
            <a:bodyPr anchor="t" rtlCol="false" tIns="0" lIns="0" bIns="0" rIns="0">
              <a:spAutoFit/>
            </a:bodyPr>
            <a:lstStyle/>
            <a:p>
              <a:pPr algn="l">
                <a:lnSpc>
                  <a:spcPts val="7000"/>
                </a:lnSpc>
              </a:pPr>
              <a:r>
                <a:rPr lang="en-US" sz="5000" b="true">
                  <a:solidFill>
                    <a:srgbClr val="020C45"/>
                  </a:solidFill>
                  <a:latin typeface="Times New Roman Bold"/>
                  <a:ea typeface="Times New Roman Bold"/>
                  <a:cs typeface="Times New Roman Bold"/>
                  <a:sym typeface="Times New Roman Bold"/>
                </a:rPr>
                <a:t>1. INTRODUCTION</a:t>
              </a:r>
            </a:p>
          </p:txBody>
        </p:sp>
        <p:sp>
          <p:nvSpPr>
            <p:cNvPr name="AutoShape 18" id="18"/>
            <p:cNvSpPr/>
            <p:nvPr/>
          </p:nvSpPr>
          <p:spPr>
            <a:xfrm flipV="true">
              <a:off x="0" y="1075267"/>
              <a:ext cx="11835069" cy="0"/>
            </a:xfrm>
            <a:prstGeom prst="line">
              <a:avLst/>
            </a:prstGeom>
            <a:ln cap="flat" w="63500">
              <a:solidFill>
                <a:srgbClr val="020C45"/>
              </a:solidFill>
              <a:prstDash val="solid"/>
              <a:headEnd type="none" len="sm" w="sm"/>
              <a:tailEnd type="none" len="sm" w="sm"/>
            </a:ln>
          </p:spPr>
        </p:sp>
        <p:sp>
          <p:nvSpPr>
            <p:cNvPr name="TextBox 19" id="19"/>
            <p:cNvSpPr txBox="true"/>
            <p:nvPr/>
          </p:nvSpPr>
          <p:spPr>
            <a:xfrm rot="0">
              <a:off x="74218" y="1433618"/>
              <a:ext cx="11686633" cy="7807324"/>
            </a:xfrm>
            <a:prstGeom prst="rect">
              <a:avLst/>
            </a:prstGeom>
          </p:spPr>
          <p:txBody>
            <a:bodyPr anchor="t" rtlCol="false" tIns="0" lIns="0" bIns="0" rIns="0">
              <a:spAutoFit/>
            </a:bodyPr>
            <a:lstStyle/>
            <a:p>
              <a:pPr algn="just">
                <a:lnSpc>
                  <a:spcPts val="4200"/>
                </a:lnSpc>
                <a:spcBef>
                  <a:spcPct val="0"/>
                </a:spcBef>
              </a:pPr>
              <a:r>
                <a:rPr lang="en-US" sz="3000">
                  <a:solidFill>
                    <a:srgbClr val="000000"/>
                  </a:solidFill>
                  <a:latin typeface="Times New Roman"/>
                  <a:ea typeface="Times New Roman"/>
                  <a:cs typeface="Times New Roman"/>
                  <a:sym typeface="Times New Roman"/>
                </a:rPr>
                <a:t>While Large Language M</a:t>
              </a:r>
              <a:r>
                <a:rPr lang="en-US" sz="3000">
                  <a:solidFill>
                    <a:srgbClr val="000000"/>
                  </a:solidFill>
                  <a:latin typeface="Times New Roman"/>
                  <a:ea typeface="Times New Roman"/>
                  <a:cs typeface="Times New Roman"/>
                  <a:sym typeface="Times New Roman"/>
                </a:rPr>
                <a:t>odels (LLMs) have been used successfully as zero-shot evaluators, their monolithic designs make it difficult to learn about their deductive processes behind the decisions they make. To overcome this opacity, we propose a multi-agent-based, compartmentalized approach to the evaluation process, which decomposes it. The proposed system will distribute specific cognitive tasks to distributed autonomous nodes in a systematic manner, allowing its deductive reasoning to be completely transparent, reproducible, and verifiable.</a:t>
              </a:r>
            </a:p>
          </p:txBody>
        </p:sp>
      </p:grpSp>
      <p:grpSp>
        <p:nvGrpSpPr>
          <p:cNvPr name="Group 20" id="20"/>
          <p:cNvGrpSpPr/>
          <p:nvPr/>
        </p:nvGrpSpPr>
        <p:grpSpPr>
          <a:xfrm rot="0">
            <a:off x="1000692" y="22573992"/>
            <a:ext cx="8876302" cy="10049827"/>
            <a:chOff x="0" y="0"/>
            <a:chExt cx="11835069" cy="13399770"/>
          </a:xfrm>
        </p:grpSpPr>
        <p:sp>
          <p:nvSpPr>
            <p:cNvPr name="TextBox 21" id="21"/>
            <p:cNvSpPr txBox="true"/>
            <p:nvPr/>
          </p:nvSpPr>
          <p:spPr>
            <a:xfrm rot="0">
              <a:off x="0" y="-133350"/>
              <a:ext cx="11783792" cy="1145117"/>
            </a:xfrm>
            <a:prstGeom prst="rect">
              <a:avLst/>
            </a:prstGeom>
          </p:spPr>
          <p:txBody>
            <a:bodyPr anchor="t" rtlCol="false" tIns="0" lIns="0" bIns="0" rIns="0">
              <a:spAutoFit/>
            </a:bodyPr>
            <a:lstStyle/>
            <a:p>
              <a:pPr algn="l">
                <a:lnSpc>
                  <a:spcPts val="7000"/>
                </a:lnSpc>
              </a:pPr>
              <a:r>
                <a:rPr lang="en-US" sz="5000" b="true">
                  <a:solidFill>
                    <a:srgbClr val="020C45"/>
                  </a:solidFill>
                  <a:latin typeface="Times New Roman Bold"/>
                  <a:ea typeface="Times New Roman Bold"/>
                  <a:cs typeface="Times New Roman Bold"/>
                  <a:sym typeface="Times New Roman Bold"/>
                </a:rPr>
                <a:t>2. LITERATURE REVIEW</a:t>
              </a:r>
            </a:p>
          </p:txBody>
        </p:sp>
        <p:sp>
          <p:nvSpPr>
            <p:cNvPr name="AutoShape 22" id="22"/>
            <p:cNvSpPr/>
            <p:nvPr/>
          </p:nvSpPr>
          <p:spPr>
            <a:xfrm flipV="true">
              <a:off x="0" y="1075267"/>
              <a:ext cx="11835069" cy="0"/>
            </a:xfrm>
            <a:prstGeom prst="line">
              <a:avLst/>
            </a:prstGeom>
            <a:ln cap="flat" w="63500">
              <a:solidFill>
                <a:srgbClr val="020C45"/>
              </a:solidFill>
              <a:prstDash val="solid"/>
              <a:headEnd type="none" len="sm" w="sm"/>
              <a:tailEnd type="none" len="sm" w="sm"/>
            </a:ln>
          </p:spPr>
        </p:sp>
        <p:sp>
          <p:nvSpPr>
            <p:cNvPr name="TextBox 23" id="23"/>
            <p:cNvSpPr txBox="true"/>
            <p:nvPr/>
          </p:nvSpPr>
          <p:spPr>
            <a:xfrm rot="0">
              <a:off x="74218" y="1433618"/>
              <a:ext cx="11686633" cy="11966151"/>
            </a:xfrm>
            <a:prstGeom prst="rect">
              <a:avLst/>
            </a:prstGeom>
          </p:spPr>
          <p:txBody>
            <a:bodyPr anchor="t" rtlCol="false" tIns="0" lIns="0" bIns="0" rIns="0">
              <a:spAutoFit/>
            </a:bodyPr>
            <a:lstStyle/>
            <a:p>
              <a:pPr algn="just" marL="690882" indent="-345441" lvl="1">
                <a:lnSpc>
                  <a:spcPts val="4480"/>
                </a:lnSpc>
                <a:spcBef>
                  <a:spcPct val="0"/>
                </a:spcBef>
                <a:buFont typeface="Arial"/>
                <a:buChar char="•"/>
              </a:pPr>
              <a:r>
                <a:rPr lang="en-US" b="true" sz="3200">
                  <a:solidFill>
                    <a:srgbClr val="000000"/>
                  </a:solidFill>
                  <a:latin typeface="Times New Roman Bold"/>
                  <a:ea typeface="Times New Roman Bold"/>
                  <a:cs typeface="Times New Roman Bold"/>
                  <a:sym typeface="Times New Roman Bold"/>
                </a:rPr>
                <a:t>LLM Opacity:</a:t>
              </a:r>
              <a:r>
                <a:rPr lang="en-US" sz="3200">
                  <a:solidFill>
                    <a:srgbClr val="000000"/>
                  </a:solidFill>
                  <a:latin typeface="Times New Roman"/>
                  <a:ea typeface="Times New Roman"/>
                  <a:cs typeface="Times New Roman"/>
                  <a:sym typeface="Times New Roman"/>
                </a:rPr>
                <a:t> M</a:t>
              </a:r>
              <a:r>
                <a:rPr lang="en-US" sz="3200">
                  <a:solidFill>
                    <a:srgbClr val="000000"/>
                  </a:solidFill>
                  <a:latin typeface="Times New Roman"/>
                  <a:ea typeface="Times New Roman"/>
                  <a:cs typeface="Times New Roman"/>
                  <a:sym typeface="Times New Roman"/>
                </a:rPr>
                <a:t>onolithic LLMs frequently suffer from "attention collapse" during complex, multi-step logical evaluation, systematically prioritizing rhetorical fluency over deductive validity [1, 2].</a:t>
              </a:r>
            </a:p>
            <a:p>
              <a:pPr algn="just" marL="690882" indent="-345441" lvl="1">
                <a:lnSpc>
                  <a:spcPts val="4480"/>
                </a:lnSpc>
                <a:spcBef>
                  <a:spcPct val="0"/>
                </a:spcBef>
                <a:buFont typeface="Arial"/>
                <a:buChar char="•"/>
              </a:pPr>
              <a:r>
                <a:rPr lang="en-US" b="true" sz="3200">
                  <a:solidFill>
                    <a:srgbClr val="000000"/>
                  </a:solidFill>
                  <a:latin typeface="Times New Roman Bold"/>
                  <a:ea typeface="Times New Roman Bold"/>
                  <a:cs typeface="Times New Roman Bold"/>
                  <a:sym typeface="Times New Roman Bold"/>
                </a:rPr>
                <a:t>Multi-Agent Orchestration:</a:t>
              </a:r>
              <a:r>
                <a:rPr lang="en-US" sz="3200">
                  <a:solidFill>
                    <a:srgbClr val="000000"/>
                  </a:solidFill>
                  <a:latin typeface="Times New Roman"/>
                  <a:ea typeface="Times New Roman"/>
                  <a:cs typeface="Times New Roman"/>
                  <a:sym typeface="Times New Roman"/>
                </a:rPr>
                <a:t> Distributing cognitive load across specialized autonomous agents (e.g., ChatEval) simulates deliberative "System 2" thinking, effectively mitigating generative hallucination and maximizing deterministic output [3].</a:t>
              </a:r>
            </a:p>
            <a:p>
              <a:pPr algn="just" marL="690882" indent="-345441" lvl="1">
                <a:lnSpc>
                  <a:spcPts val="4480"/>
                </a:lnSpc>
                <a:spcBef>
                  <a:spcPct val="0"/>
                </a:spcBef>
                <a:buFont typeface="Arial"/>
                <a:buChar char="•"/>
              </a:pPr>
              <a:r>
                <a:rPr lang="en-US" b="true" sz="3200">
                  <a:solidFill>
                    <a:srgbClr val="000000"/>
                  </a:solidFill>
                  <a:latin typeface="Times New Roman Bold"/>
                  <a:ea typeface="Times New Roman Bold"/>
                  <a:cs typeface="Times New Roman Bold"/>
                  <a:sym typeface="Times New Roman Bold"/>
                </a:rPr>
                <a:t>Explainable AI (XAI):</a:t>
              </a:r>
              <a:r>
                <a:rPr lang="en-US" sz="3200">
                  <a:solidFill>
                    <a:srgbClr val="000000"/>
                  </a:solidFill>
                  <a:latin typeface="Times New Roman"/>
                  <a:ea typeface="Times New Roman"/>
                  <a:cs typeface="Times New Roman"/>
                  <a:sym typeface="Times New Roman"/>
                </a:rPr>
                <a:t> In the domain of Natural Language Processing, robust XAI requires actionable, structural counterfactuals rather than opaque scalar scores or post-hoc attention visualizations [4].</a:t>
              </a:r>
            </a:p>
          </p:txBody>
        </p:sp>
      </p:grpSp>
      <p:grpSp>
        <p:nvGrpSpPr>
          <p:cNvPr name="Group 24" id="24"/>
          <p:cNvGrpSpPr/>
          <p:nvPr/>
        </p:nvGrpSpPr>
        <p:grpSpPr>
          <a:xfrm rot="0">
            <a:off x="12019999" y="7455278"/>
            <a:ext cx="8876302" cy="3196907"/>
            <a:chOff x="0" y="0"/>
            <a:chExt cx="11835069" cy="4262543"/>
          </a:xfrm>
        </p:grpSpPr>
        <p:sp>
          <p:nvSpPr>
            <p:cNvPr name="TextBox 25" id="25"/>
            <p:cNvSpPr txBox="true"/>
            <p:nvPr/>
          </p:nvSpPr>
          <p:spPr>
            <a:xfrm rot="0">
              <a:off x="0" y="-133350"/>
              <a:ext cx="11783792" cy="1145117"/>
            </a:xfrm>
            <a:prstGeom prst="rect">
              <a:avLst/>
            </a:prstGeom>
          </p:spPr>
          <p:txBody>
            <a:bodyPr anchor="t" rtlCol="false" tIns="0" lIns="0" bIns="0" rIns="0">
              <a:spAutoFit/>
            </a:bodyPr>
            <a:lstStyle/>
            <a:p>
              <a:pPr algn="l">
                <a:lnSpc>
                  <a:spcPts val="7000"/>
                </a:lnSpc>
              </a:pPr>
              <a:r>
                <a:rPr lang="en-US" sz="5000" b="true">
                  <a:solidFill>
                    <a:srgbClr val="020C45"/>
                  </a:solidFill>
                  <a:latin typeface="Times New Roman Bold"/>
                  <a:ea typeface="Times New Roman Bold"/>
                  <a:cs typeface="Times New Roman Bold"/>
                  <a:sym typeface="Times New Roman Bold"/>
                </a:rPr>
                <a:t>3. METHODOLOGY</a:t>
              </a:r>
            </a:p>
          </p:txBody>
        </p:sp>
        <p:sp>
          <p:nvSpPr>
            <p:cNvPr name="AutoShape 26" id="26"/>
            <p:cNvSpPr/>
            <p:nvPr/>
          </p:nvSpPr>
          <p:spPr>
            <a:xfrm flipV="true">
              <a:off x="0" y="1075267"/>
              <a:ext cx="11835069" cy="0"/>
            </a:xfrm>
            <a:prstGeom prst="line">
              <a:avLst/>
            </a:prstGeom>
            <a:ln cap="flat" w="63500">
              <a:solidFill>
                <a:srgbClr val="020C45"/>
              </a:solidFill>
              <a:prstDash val="solid"/>
              <a:headEnd type="none" len="sm" w="sm"/>
              <a:tailEnd type="none" len="sm" w="sm"/>
            </a:ln>
          </p:spPr>
        </p:sp>
        <p:sp>
          <p:nvSpPr>
            <p:cNvPr name="TextBox 27" id="27"/>
            <p:cNvSpPr txBox="true"/>
            <p:nvPr/>
          </p:nvSpPr>
          <p:spPr>
            <a:xfrm rot="0">
              <a:off x="74218" y="1433618"/>
              <a:ext cx="11686633" cy="2828924"/>
            </a:xfrm>
            <a:prstGeom prst="rect">
              <a:avLst/>
            </a:prstGeom>
          </p:spPr>
          <p:txBody>
            <a:bodyPr anchor="t" rtlCol="false" tIns="0" lIns="0" bIns="0" rIns="0">
              <a:spAutoFit/>
            </a:bodyPr>
            <a:lstStyle/>
            <a:p>
              <a:pPr algn="just">
                <a:lnSpc>
                  <a:spcPts val="4200"/>
                </a:lnSpc>
                <a:spcBef>
                  <a:spcPct val="0"/>
                </a:spcBef>
              </a:pPr>
              <a:r>
                <a:rPr lang="en-US" sz="3000">
                  <a:solidFill>
                    <a:srgbClr val="000000"/>
                  </a:solidFill>
                  <a:latin typeface="Times New Roman"/>
                  <a:ea typeface="Times New Roman"/>
                  <a:cs typeface="Times New Roman"/>
                  <a:sym typeface="Times New Roman"/>
                </a:rPr>
                <a:t>A "Glass-Box" Approach instead </a:t>
              </a:r>
              <a:r>
                <a:rPr lang="en-US" sz="3000">
                  <a:solidFill>
                    <a:srgbClr val="000000"/>
                  </a:solidFill>
                  <a:latin typeface="Times New Roman"/>
                  <a:ea typeface="Times New Roman"/>
                  <a:cs typeface="Times New Roman"/>
                  <a:sym typeface="Times New Roman"/>
                </a:rPr>
                <a:t>of asking a single AI to do everything at once, we use a step-by-step pipeline. This turns messy debate text into clear and logical maps that anyone can understand and verify.</a:t>
              </a:r>
            </a:p>
          </p:txBody>
        </p:sp>
      </p:grpSp>
      <p:sp>
        <p:nvSpPr>
          <p:cNvPr name="Freeform 28" id="28"/>
          <p:cNvSpPr/>
          <p:nvPr/>
        </p:nvSpPr>
        <p:spPr>
          <a:xfrm flipH="false" flipV="false" rot="0">
            <a:off x="12013342" y="10894085"/>
            <a:ext cx="8882959" cy="9251338"/>
          </a:xfrm>
          <a:custGeom>
            <a:avLst/>
            <a:gdLst/>
            <a:ahLst/>
            <a:cxnLst/>
            <a:rect r="r" b="b" t="t" l="l"/>
            <a:pathLst>
              <a:path h="9251338" w="8882959">
                <a:moveTo>
                  <a:pt x="0" y="0"/>
                </a:moveTo>
                <a:lnTo>
                  <a:pt x="8882959" y="0"/>
                </a:lnTo>
                <a:lnTo>
                  <a:pt x="8882959" y="9251338"/>
                </a:lnTo>
                <a:lnTo>
                  <a:pt x="0" y="9251338"/>
                </a:lnTo>
                <a:lnTo>
                  <a:pt x="0" y="0"/>
                </a:lnTo>
                <a:close/>
              </a:path>
            </a:pathLst>
          </a:custGeom>
          <a:blipFill>
            <a:blip r:embed="rId2"/>
            <a:stretch>
              <a:fillRect l="-3760" t="-2720" r="-90551" b="-13889"/>
            </a:stretch>
          </a:blipFill>
        </p:spPr>
      </p:sp>
      <p:sp>
        <p:nvSpPr>
          <p:cNvPr name="Freeform 29" id="29"/>
          <p:cNvSpPr/>
          <p:nvPr/>
        </p:nvSpPr>
        <p:spPr>
          <a:xfrm flipH="false" flipV="false" rot="0">
            <a:off x="12026656" y="25141009"/>
            <a:ext cx="8882959" cy="6481561"/>
          </a:xfrm>
          <a:custGeom>
            <a:avLst/>
            <a:gdLst/>
            <a:ahLst/>
            <a:cxnLst/>
            <a:rect r="r" b="b" t="t" l="l"/>
            <a:pathLst>
              <a:path h="6481561" w="8882959">
                <a:moveTo>
                  <a:pt x="0" y="0"/>
                </a:moveTo>
                <a:lnTo>
                  <a:pt x="8882959" y="0"/>
                </a:lnTo>
                <a:lnTo>
                  <a:pt x="8882959" y="6481560"/>
                </a:lnTo>
                <a:lnTo>
                  <a:pt x="0" y="6481560"/>
                </a:lnTo>
                <a:lnTo>
                  <a:pt x="0" y="0"/>
                </a:lnTo>
                <a:close/>
              </a:path>
            </a:pathLst>
          </a:custGeom>
          <a:blipFill>
            <a:blip r:embed="rId3"/>
            <a:stretch>
              <a:fillRect l="-4799" t="-11757" r="-120409" b="-81148"/>
            </a:stretch>
          </a:blipFill>
        </p:spPr>
      </p:sp>
      <p:grpSp>
        <p:nvGrpSpPr>
          <p:cNvPr name="Group 30" id="30"/>
          <p:cNvGrpSpPr/>
          <p:nvPr/>
        </p:nvGrpSpPr>
        <p:grpSpPr>
          <a:xfrm rot="0">
            <a:off x="23002365" y="7290619"/>
            <a:ext cx="8876302" cy="2810043"/>
            <a:chOff x="0" y="0"/>
            <a:chExt cx="11835069" cy="3746724"/>
          </a:xfrm>
        </p:grpSpPr>
        <p:sp>
          <p:nvSpPr>
            <p:cNvPr name="TextBox 31" id="31"/>
            <p:cNvSpPr txBox="true"/>
            <p:nvPr/>
          </p:nvSpPr>
          <p:spPr>
            <a:xfrm rot="0">
              <a:off x="0" y="-133350"/>
              <a:ext cx="11783792" cy="1145117"/>
            </a:xfrm>
            <a:prstGeom prst="rect">
              <a:avLst/>
            </a:prstGeom>
          </p:spPr>
          <p:txBody>
            <a:bodyPr anchor="t" rtlCol="false" tIns="0" lIns="0" bIns="0" rIns="0">
              <a:spAutoFit/>
            </a:bodyPr>
            <a:lstStyle/>
            <a:p>
              <a:pPr algn="l">
                <a:lnSpc>
                  <a:spcPts val="7000"/>
                </a:lnSpc>
              </a:pPr>
              <a:r>
                <a:rPr lang="en-US" sz="5000" b="true">
                  <a:solidFill>
                    <a:srgbClr val="020C45"/>
                  </a:solidFill>
                  <a:latin typeface="Times New Roman Bold"/>
                  <a:ea typeface="Times New Roman Bold"/>
                  <a:cs typeface="Times New Roman Bold"/>
                  <a:sym typeface="Times New Roman Bold"/>
                </a:rPr>
                <a:t>4. TECHNOLOGICAL STACK</a:t>
              </a:r>
            </a:p>
          </p:txBody>
        </p:sp>
        <p:sp>
          <p:nvSpPr>
            <p:cNvPr name="AutoShape 32" id="32"/>
            <p:cNvSpPr/>
            <p:nvPr/>
          </p:nvSpPr>
          <p:spPr>
            <a:xfrm flipV="true">
              <a:off x="0" y="1259417"/>
              <a:ext cx="11835069" cy="0"/>
            </a:xfrm>
            <a:prstGeom prst="line">
              <a:avLst/>
            </a:prstGeom>
            <a:ln cap="flat" w="63500">
              <a:solidFill>
                <a:srgbClr val="020C45"/>
              </a:solidFill>
              <a:prstDash val="solid"/>
              <a:headEnd type="none" len="sm" w="sm"/>
              <a:tailEnd type="none" len="sm" w="sm"/>
            </a:ln>
          </p:spPr>
        </p:sp>
        <p:sp>
          <p:nvSpPr>
            <p:cNvPr name="TextBox 33" id="33"/>
            <p:cNvSpPr txBox="true"/>
            <p:nvPr/>
          </p:nvSpPr>
          <p:spPr>
            <a:xfrm rot="0">
              <a:off x="0" y="1629000"/>
              <a:ext cx="11686633" cy="2117724"/>
            </a:xfrm>
            <a:prstGeom prst="rect">
              <a:avLst/>
            </a:prstGeom>
          </p:spPr>
          <p:txBody>
            <a:bodyPr anchor="t" rtlCol="false" tIns="0" lIns="0" bIns="0" rIns="0">
              <a:spAutoFit/>
            </a:bodyPr>
            <a:lstStyle/>
            <a:p>
              <a:pPr algn="just">
                <a:lnSpc>
                  <a:spcPts val="4200"/>
                </a:lnSpc>
                <a:spcBef>
                  <a:spcPct val="0"/>
                </a:spcBef>
              </a:pPr>
              <a:r>
                <a:rPr lang="en-US" sz="3000">
                  <a:solidFill>
                    <a:srgbClr val="000000"/>
                  </a:solidFill>
                  <a:latin typeface="Times New Roman"/>
                  <a:ea typeface="Times New Roman"/>
                  <a:cs typeface="Times New Roman"/>
                  <a:sym typeface="Times New Roman"/>
                </a:rPr>
                <a:t>The </a:t>
              </a:r>
              <a:r>
                <a:rPr lang="en-US" sz="3000">
                  <a:solidFill>
                    <a:srgbClr val="000000"/>
                  </a:solidFill>
                  <a:latin typeface="Times New Roman"/>
                  <a:ea typeface="Times New Roman"/>
                  <a:cs typeface="Times New Roman"/>
                  <a:sym typeface="Times New Roman"/>
                </a:rPr>
                <a:t>system runs tasks simultaneously (asynchronously) to speed up the evaluation process and provide real-time results.</a:t>
              </a:r>
            </a:p>
          </p:txBody>
        </p:sp>
      </p:grpSp>
      <p:grpSp>
        <p:nvGrpSpPr>
          <p:cNvPr name="Group 34" id="34"/>
          <p:cNvGrpSpPr/>
          <p:nvPr/>
        </p:nvGrpSpPr>
        <p:grpSpPr>
          <a:xfrm rot="0">
            <a:off x="23097615" y="14840809"/>
            <a:ext cx="8876302" cy="4263707"/>
            <a:chOff x="0" y="0"/>
            <a:chExt cx="11835069" cy="5684943"/>
          </a:xfrm>
        </p:grpSpPr>
        <p:sp>
          <p:nvSpPr>
            <p:cNvPr name="TextBox 35" id="35"/>
            <p:cNvSpPr txBox="true"/>
            <p:nvPr/>
          </p:nvSpPr>
          <p:spPr>
            <a:xfrm rot="0">
              <a:off x="0" y="-133350"/>
              <a:ext cx="11783792" cy="1145117"/>
            </a:xfrm>
            <a:prstGeom prst="rect">
              <a:avLst/>
            </a:prstGeom>
          </p:spPr>
          <p:txBody>
            <a:bodyPr anchor="t" rtlCol="false" tIns="0" lIns="0" bIns="0" rIns="0">
              <a:spAutoFit/>
            </a:bodyPr>
            <a:lstStyle/>
            <a:p>
              <a:pPr algn="l">
                <a:lnSpc>
                  <a:spcPts val="7000"/>
                </a:lnSpc>
              </a:pPr>
              <a:r>
                <a:rPr lang="en-US" sz="5000" b="true">
                  <a:solidFill>
                    <a:srgbClr val="020C45"/>
                  </a:solidFill>
                  <a:latin typeface="Times New Roman Bold"/>
                  <a:ea typeface="Times New Roman Bold"/>
                  <a:cs typeface="Times New Roman Bold"/>
                  <a:sym typeface="Times New Roman Bold"/>
                </a:rPr>
                <a:t>5. RESULT AND ANALYSIS</a:t>
              </a:r>
            </a:p>
          </p:txBody>
        </p:sp>
        <p:sp>
          <p:nvSpPr>
            <p:cNvPr name="AutoShape 36" id="36"/>
            <p:cNvSpPr/>
            <p:nvPr/>
          </p:nvSpPr>
          <p:spPr>
            <a:xfrm flipV="true">
              <a:off x="0" y="1075267"/>
              <a:ext cx="11835069" cy="0"/>
            </a:xfrm>
            <a:prstGeom prst="line">
              <a:avLst/>
            </a:prstGeom>
            <a:ln cap="flat" w="63500">
              <a:solidFill>
                <a:srgbClr val="020C45"/>
              </a:solidFill>
              <a:prstDash val="solid"/>
              <a:headEnd type="none" len="sm" w="sm"/>
              <a:tailEnd type="none" len="sm" w="sm"/>
            </a:ln>
          </p:spPr>
        </p:sp>
        <p:sp>
          <p:nvSpPr>
            <p:cNvPr name="TextBox 37" id="37"/>
            <p:cNvSpPr txBox="true"/>
            <p:nvPr/>
          </p:nvSpPr>
          <p:spPr>
            <a:xfrm rot="0">
              <a:off x="74218" y="1433618"/>
              <a:ext cx="11686633" cy="4251324"/>
            </a:xfrm>
            <a:prstGeom prst="rect">
              <a:avLst/>
            </a:prstGeom>
          </p:spPr>
          <p:txBody>
            <a:bodyPr anchor="t" rtlCol="false" tIns="0" lIns="0" bIns="0" rIns="0">
              <a:spAutoFit/>
            </a:bodyPr>
            <a:lstStyle/>
            <a:p>
              <a:pPr algn="just">
                <a:lnSpc>
                  <a:spcPts val="4200"/>
                </a:lnSpc>
                <a:spcBef>
                  <a:spcPct val="0"/>
                </a:spcBef>
              </a:pPr>
              <a:r>
                <a:rPr lang="en-US" sz="3000">
                  <a:solidFill>
                    <a:srgbClr val="000000"/>
                  </a:solidFill>
                  <a:latin typeface="Times New Roman"/>
                  <a:ea typeface="Times New Roman"/>
                  <a:cs typeface="Times New Roman"/>
                  <a:sym typeface="Times New Roman"/>
                </a:rPr>
                <a:t>Our te</a:t>
              </a:r>
              <a:r>
                <a:rPr lang="en-US" sz="3000">
                  <a:solidFill>
                    <a:srgbClr val="000000"/>
                  </a:solidFill>
                  <a:latin typeface="Times New Roman"/>
                  <a:ea typeface="Times New Roman"/>
                  <a:cs typeface="Times New Roman"/>
                  <a:sym typeface="Times New Roman"/>
                </a:rPr>
                <a:t>sts show the system is fast and reliable. The integrated dashboard provides real-time data on the evaluation process.</a:t>
              </a:r>
            </a:p>
            <a:p>
              <a:pPr algn="l" marL="647703" indent="-323852" lvl="1">
                <a:lnSpc>
                  <a:spcPts val="4200"/>
                </a:lnSpc>
                <a:buFont typeface="Arial"/>
                <a:buChar char="•"/>
              </a:pPr>
              <a:r>
                <a:rPr lang="en-US" b="true" sz="3000">
                  <a:solidFill>
                    <a:srgbClr val="000000"/>
                  </a:solidFill>
                  <a:latin typeface="Times New Roman Bold"/>
                  <a:ea typeface="Times New Roman Bold"/>
                  <a:cs typeface="Times New Roman Bold"/>
                  <a:sym typeface="Times New Roman Bold"/>
                </a:rPr>
                <a:t>Score Comparison Radar: </a:t>
              </a:r>
              <a:r>
                <a:rPr lang="en-US" sz="3000">
                  <a:solidFill>
                    <a:srgbClr val="000000"/>
                  </a:solidFill>
                  <a:latin typeface="Times New Roman"/>
                  <a:ea typeface="Times New Roman"/>
                  <a:cs typeface="Times New Roman"/>
                  <a:sym typeface="Times New Roman"/>
                </a:rPr>
                <a:t>A chart comparing the FOR (81) and AGAINST (85) arguments across the six scoring areas.</a:t>
              </a:r>
            </a:p>
          </p:txBody>
        </p:sp>
      </p:grpSp>
      <p:sp>
        <p:nvSpPr>
          <p:cNvPr name="Freeform 38" id="38"/>
          <p:cNvSpPr/>
          <p:nvPr/>
        </p:nvSpPr>
        <p:spPr>
          <a:xfrm flipH="false" flipV="false" rot="0">
            <a:off x="23097615" y="26194356"/>
            <a:ext cx="8954544" cy="5027053"/>
          </a:xfrm>
          <a:custGeom>
            <a:avLst/>
            <a:gdLst/>
            <a:ahLst/>
            <a:cxnLst/>
            <a:rect r="r" b="b" t="t" l="l"/>
            <a:pathLst>
              <a:path h="5027053" w="8954544">
                <a:moveTo>
                  <a:pt x="0" y="0"/>
                </a:moveTo>
                <a:lnTo>
                  <a:pt x="8954544" y="0"/>
                </a:lnTo>
                <a:lnTo>
                  <a:pt x="8954544" y="5027053"/>
                </a:lnTo>
                <a:lnTo>
                  <a:pt x="0" y="5027053"/>
                </a:lnTo>
                <a:lnTo>
                  <a:pt x="0" y="0"/>
                </a:lnTo>
                <a:close/>
              </a:path>
            </a:pathLst>
          </a:custGeom>
          <a:blipFill>
            <a:blip r:embed="rId4"/>
            <a:stretch>
              <a:fillRect l="0" t="-830" r="-772" b="-830"/>
            </a:stretch>
          </a:blipFill>
        </p:spPr>
      </p:sp>
      <p:sp>
        <p:nvSpPr>
          <p:cNvPr name="Freeform 39" id="39"/>
          <p:cNvSpPr/>
          <p:nvPr/>
        </p:nvSpPr>
        <p:spPr>
          <a:xfrm flipH="false" flipV="false" rot="0">
            <a:off x="23097615" y="19349545"/>
            <a:ext cx="8876302" cy="4527151"/>
          </a:xfrm>
          <a:custGeom>
            <a:avLst/>
            <a:gdLst/>
            <a:ahLst/>
            <a:cxnLst/>
            <a:rect r="r" b="b" t="t" l="l"/>
            <a:pathLst>
              <a:path h="4527151" w="8876302">
                <a:moveTo>
                  <a:pt x="0" y="0"/>
                </a:moveTo>
                <a:lnTo>
                  <a:pt x="8876302" y="0"/>
                </a:lnTo>
                <a:lnTo>
                  <a:pt x="8876302" y="4527151"/>
                </a:lnTo>
                <a:lnTo>
                  <a:pt x="0" y="4527151"/>
                </a:lnTo>
                <a:lnTo>
                  <a:pt x="0" y="0"/>
                </a:lnTo>
                <a:close/>
              </a:path>
            </a:pathLst>
          </a:custGeom>
          <a:blipFill>
            <a:blip r:embed="rId5"/>
            <a:stretch>
              <a:fillRect l="0" t="0" r="0" b="0"/>
            </a:stretch>
          </a:blipFill>
        </p:spPr>
      </p:sp>
      <p:sp>
        <p:nvSpPr>
          <p:cNvPr name="Freeform 40" id="40"/>
          <p:cNvSpPr/>
          <p:nvPr/>
        </p:nvSpPr>
        <p:spPr>
          <a:xfrm flipH="false" flipV="false" rot="0">
            <a:off x="34069870" y="10157644"/>
            <a:ext cx="8772086" cy="5599740"/>
          </a:xfrm>
          <a:custGeom>
            <a:avLst/>
            <a:gdLst/>
            <a:ahLst/>
            <a:cxnLst/>
            <a:rect r="r" b="b" t="t" l="l"/>
            <a:pathLst>
              <a:path h="5599740" w="8772086">
                <a:moveTo>
                  <a:pt x="0" y="0"/>
                </a:moveTo>
                <a:lnTo>
                  <a:pt x="8772087" y="0"/>
                </a:lnTo>
                <a:lnTo>
                  <a:pt x="8772087" y="5599740"/>
                </a:lnTo>
                <a:lnTo>
                  <a:pt x="0" y="5599740"/>
                </a:lnTo>
                <a:lnTo>
                  <a:pt x="0" y="0"/>
                </a:lnTo>
                <a:close/>
              </a:path>
            </a:pathLst>
          </a:custGeom>
          <a:blipFill>
            <a:blip r:embed="rId6"/>
            <a:stretch>
              <a:fillRect l="-4568" t="-29023" r="-61557" b="-33627"/>
            </a:stretch>
          </a:blipFill>
        </p:spPr>
      </p:sp>
      <p:grpSp>
        <p:nvGrpSpPr>
          <p:cNvPr name="Group 41" id="41"/>
          <p:cNvGrpSpPr/>
          <p:nvPr/>
        </p:nvGrpSpPr>
        <p:grpSpPr>
          <a:xfrm rot="0">
            <a:off x="34079955" y="17300434"/>
            <a:ext cx="8876302" cy="5330507"/>
            <a:chOff x="0" y="0"/>
            <a:chExt cx="11835069" cy="7107343"/>
          </a:xfrm>
        </p:grpSpPr>
        <p:sp>
          <p:nvSpPr>
            <p:cNvPr name="TextBox 42" id="42"/>
            <p:cNvSpPr txBox="true"/>
            <p:nvPr/>
          </p:nvSpPr>
          <p:spPr>
            <a:xfrm rot="0">
              <a:off x="0" y="-133350"/>
              <a:ext cx="11783792" cy="1145117"/>
            </a:xfrm>
            <a:prstGeom prst="rect">
              <a:avLst/>
            </a:prstGeom>
          </p:spPr>
          <p:txBody>
            <a:bodyPr anchor="t" rtlCol="false" tIns="0" lIns="0" bIns="0" rIns="0">
              <a:spAutoFit/>
            </a:bodyPr>
            <a:lstStyle/>
            <a:p>
              <a:pPr algn="l">
                <a:lnSpc>
                  <a:spcPts val="7000"/>
                </a:lnSpc>
              </a:pPr>
              <a:r>
                <a:rPr lang="en-US" sz="5000" b="true">
                  <a:solidFill>
                    <a:srgbClr val="020C45"/>
                  </a:solidFill>
                  <a:latin typeface="Times New Roman Bold"/>
                  <a:ea typeface="Times New Roman Bold"/>
                  <a:cs typeface="Times New Roman Bold"/>
                  <a:sym typeface="Times New Roman Bold"/>
                </a:rPr>
                <a:t>6. CONCLUSION</a:t>
              </a:r>
            </a:p>
          </p:txBody>
        </p:sp>
        <p:sp>
          <p:nvSpPr>
            <p:cNvPr name="AutoShape 43" id="43"/>
            <p:cNvSpPr/>
            <p:nvPr/>
          </p:nvSpPr>
          <p:spPr>
            <a:xfrm flipV="true">
              <a:off x="0" y="1075267"/>
              <a:ext cx="11835069" cy="0"/>
            </a:xfrm>
            <a:prstGeom prst="line">
              <a:avLst/>
            </a:prstGeom>
            <a:ln cap="flat" w="63500">
              <a:solidFill>
                <a:srgbClr val="020C45"/>
              </a:solidFill>
              <a:prstDash val="solid"/>
              <a:headEnd type="none" len="sm" w="sm"/>
              <a:tailEnd type="none" len="sm" w="sm"/>
            </a:ln>
          </p:spPr>
        </p:sp>
        <p:sp>
          <p:nvSpPr>
            <p:cNvPr name="TextBox 44" id="44"/>
            <p:cNvSpPr txBox="true"/>
            <p:nvPr/>
          </p:nvSpPr>
          <p:spPr>
            <a:xfrm rot="0">
              <a:off x="74218" y="1433618"/>
              <a:ext cx="11686633" cy="5673724"/>
            </a:xfrm>
            <a:prstGeom prst="rect">
              <a:avLst/>
            </a:prstGeom>
          </p:spPr>
          <p:txBody>
            <a:bodyPr anchor="t" rtlCol="false" tIns="0" lIns="0" bIns="0" rIns="0">
              <a:spAutoFit/>
            </a:bodyPr>
            <a:lstStyle/>
            <a:p>
              <a:pPr algn="just">
                <a:lnSpc>
                  <a:spcPts val="4200"/>
                </a:lnSpc>
                <a:spcBef>
                  <a:spcPct val="0"/>
                </a:spcBef>
              </a:pPr>
              <a:r>
                <a:rPr lang="en-US" sz="3000">
                  <a:solidFill>
                    <a:srgbClr val="000000"/>
                  </a:solidFill>
                  <a:latin typeface="Times New Roman"/>
                  <a:ea typeface="Times New Roman"/>
                  <a:cs typeface="Times New Roman"/>
                  <a:sym typeface="Times New Roman"/>
                </a:rPr>
                <a:t>The Causa</a:t>
              </a:r>
              <a:r>
                <a:rPr lang="en-US" sz="3000">
                  <a:solidFill>
                    <a:srgbClr val="000000"/>
                  </a:solidFill>
                  <a:latin typeface="Times New Roman"/>
                  <a:ea typeface="Times New Roman"/>
                  <a:cs typeface="Times New Roman"/>
                  <a:sym typeface="Times New Roman"/>
                </a:rPr>
                <a:t>l AI Debate Judge represents a paradigm shift in automated argumentation analysis. By fundamentally rejecting opaque methodologies, this framework proves that compartmentalized cognitive orchestration yields highly reproducible and explainable discourse analysis. Future iterations will integrate continuous Retrieval-Augmented Generation (RAG) to autonomously verify cited statistics against live academic databases.</a:t>
              </a:r>
            </a:p>
          </p:txBody>
        </p:sp>
      </p:grpSp>
      <p:grpSp>
        <p:nvGrpSpPr>
          <p:cNvPr name="Group 45" id="45"/>
          <p:cNvGrpSpPr/>
          <p:nvPr/>
        </p:nvGrpSpPr>
        <p:grpSpPr>
          <a:xfrm rot="0">
            <a:off x="34069870" y="23440566"/>
            <a:ext cx="8876302" cy="3196907"/>
            <a:chOff x="0" y="0"/>
            <a:chExt cx="11835069" cy="4262543"/>
          </a:xfrm>
        </p:grpSpPr>
        <p:sp>
          <p:nvSpPr>
            <p:cNvPr name="TextBox 46" id="46"/>
            <p:cNvSpPr txBox="true"/>
            <p:nvPr/>
          </p:nvSpPr>
          <p:spPr>
            <a:xfrm rot="0">
              <a:off x="0" y="-133350"/>
              <a:ext cx="11783792" cy="1145117"/>
            </a:xfrm>
            <a:prstGeom prst="rect">
              <a:avLst/>
            </a:prstGeom>
          </p:spPr>
          <p:txBody>
            <a:bodyPr anchor="t" rtlCol="false" tIns="0" lIns="0" bIns="0" rIns="0">
              <a:spAutoFit/>
            </a:bodyPr>
            <a:lstStyle/>
            <a:p>
              <a:pPr algn="l">
                <a:lnSpc>
                  <a:spcPts val="7000"/>
                </a:lnSpc>
              </a:pPr>
              <a:r>
                <a:rPr lang="en-US" sz="5000" b="true">
                  <a:solidFill>
                    <a:srgbClr val="020C45"/>
                  </a:solidFill>
                  <a:latin typeface="Times New Roman Bold"/>
                  <a:ea typeface="Times New Roman Bold"/>
                  <a:cs typeface="Times New Roman Bold"/>
                  <a:sym typeface="Times New Roman Bold"/>
                </a:rPr>
                <a:t>REFERENCES</a:t>
              </a:r>
            </a:p>
          </p:txBody>
        </p:sp>
        <p:sp>
          <p:nvSpPr>
            <p:cNvPr name="AutoShape 47" id="47"/>
            <p:cNvSpPr/>
            <p:nvPr/>
          </p:nvSpPr>
          <p:spPr>
            <a:xfrm flipV="true">
              <a:off x="0" y="1075267"/>
              <a:ext cx="11835069" cy="0"/>
            </a:xfrm>
            <a:prstGeom prst="line">
              <a:avLst/>
            </a:prstGeom>
            <a:ln cap="flat" w="63500">
              <a:solidFill>
                <a:srgbClr val="020C45"/>
              </a:solidFill>
              <a:prstDash val="solid"/>
              <a:headEnd type="none" len="sm" w="sm"/>
              <a:tailEnd type="none" len="sm" w="sm"/>
            </a:ln>
          </p:spPr>
        </p:sp>
        <p:sp>
          <p:nvSpPr>
            <p:cNvPr name="TextBox 48" id="48"/>
            <p:cNvSpPr txBox="true"/>
            <p:nvPr/>
          </p:nvSpPr>
          <p:spPr>
            <a:xfrm rot="0">
              <a:off x="74218" y="1433618"/>
              <a:ext cx="11686633" cy="2828924"/>
            </a:xfrm>
            <a:prstGeom prst="rect">
              <a:avLst/>
            </a:prstGeom>
          </p:spPr>
          <p:txBody>
            <a:bodyPr anchor="t" rtlCol="false" tIns="0" lIns="0" bIns="0" rIns="0">
              <a:spAutoFit/>
            </a:bodyPr>
            <a:lstStyle/>
            <a:p>
              <a:pPr algn="just">
                <a:lnSpc>
                  <a:spcPts val="4200"/>
                </a:lnSpc>
              </a:pPr>
              <a:r>
                <a:rPr lang="en-US" sz="3000">
                  <a:solidFill>
                    <a:srgbClr val="000000"/>
                  </a:solidFill>
                  <a:latin typeface="Times New Roman"/>
                  <a:ea typeface="Times New Roman"/>
                  <a:cs typeface="Times New Roman"/>
                  <a:sym typeface="Times New Roman"/>
                </a:rPr>
                <a:t>[1] Toulmin, S.E. The Uses of Argument, 1958. </a:t>
              </a:r>
            </a:p>
            <a:p>
              <a:pPr algn="just">
                <a:lnSpc>
                  <a:spcPts val="4200"/>
                </a:lnSpc>
                <a:spcBef>
                  <a:spcPct val="0"/>
                </a:spcBef>
              </a:pPr>
              <a:r>
                <a:rPr lang="en-US" sz="3000">
                  <a:solidFill>
                    <a:srgbClr val="000000"/>
                  </a:solidFill>
                  <a:latin typeface="Times New Roman"/>
                  <a:ea typeface="Times New Roman"/>
                  <a:cs typeface="Times New Roman"/>
                  <a:sym typeface="Times New Roman"/>
                </a:rPr>
                <a:t>[2] Dung, P.M. Artificial Intelligence, 1995. </a:t>
              </a:r>
            </a:p>
            <a:p>
              <a:pPr algn="just">
                <a:lnSpc>
                  <a:spcPts val="4200"/>
                </a:lnSpc>
                <a:spcBef>
                  <a:spcPct val="0"/>
                </a:spcBef>
              </a:pPr>
              <a:r>
                <a:rPr lang="en-US" sz="3000">
                  <a:solidFill>
                    <a:srgbClr val="000000"/>
                  </a:solidFill>
                  <a:latin typeface="Times New Roman"/>
                  <a:ea typeface="Times New Roman"/>
                  <a:cs typeface="Times New Roman"/>
                  <a:sym typeface="Times New Roman"/>
                </a:rPr>
                <a:t>[3] Kadavath, S. et al. arXiv preprint, 2022. </a:t>
              </a:r>
            </a:p>
            <a:p>
              <a:pPr algn="just">
                <a:lnSpc>
                  <a:spcPts val="4200"/>
                </a:lnSpc>
                <a:spcBef>
                  <a:spcPct val="0"/>
                </a:spcBef>
              </a:pPr>
              <a:r>
                <a:rPr lang="en-US" sz="3000">
                  <a:solidFill>
                    <a:srgbClr val="000000"/>
                  </a:solidFill>
                  <a:latin typeface="Times New Roman"/>
                  <a:ea typeface="Times New Roman"/>
                  <a:cs typeface="Times New Roman"/>
                  <a:sym typeface="Times New Roman"/>
                </a:rPr>
                <a:t>[4] Wang, L. et al. Frontiers of CS, 2024.</a:t>
              </a:r>
            </a:p>
          </p:txBody>
        </p:sp>
      </p:grpSp>
      <p:sp>
        <p:nvSpPr>
          <p:cNvPr name="AutoShape 49" id="49"/>
          <p:cNvSpPr/>
          <p:nvPr/>
        </p:nvSpPr>
        <p:spPr>
          <a:xfrm>
            <a:off x="34166385" y="27720148"/>
            <a:ext cx="8876302" cy="0"/>
          </a:xfrm>
          <a:prstGeom prst="line">
            <a:avLst/>
          </a:prstGeom>
          <a:ln cap="flat" w="47625">
            <a:solidFill>
              <a:srgbClr val="020C45"/>
            </a:solidFill>
            <a:prstDash val="solid"/>
            <a:headEnd type="none" len="sm" w="sm"/>
            <a:tailEnd type="none" len="sm" w="sm"/>
          </a:ln>
        </p:spPr>
      </p:sp>
      <p:sp>
        <p:nvSpPr>
          <p:cNvPr name="Freeform 50" id="50"/>
          <p:cNvSpPr/>
          <p:nvPr/>
        </p:nvSpPr>
        <p:spPr>
          <a:xfrm flipH="false" flipV="false" rot="0">
            <a:off x="39299224" y="28078230"/>
            <a:ext cx="3096660" cy="3096660"/>
          </a:xfrm>
          <a:custGeom>
            <a:avLst/>
            <a:gdLst/>
            <a:ahLst/>
            <a:cxnLst/>
            <a:rect r="r" b="b" t="t" l="l"/>
            <a:pathLst>
              <a:path h="3096660" w="3096660">
                <a:moveTo>
                  <a:pt x="0" y="0"/>
                </a:moveTo>
                <a:lnTo>
                  <a:pt x="3096660" y="0"/>
                </a:lnTo>
                <a:lnTo>
                  <a:pt x="3096660" y="3096660"/>
                </a:lnTo>
                <a:lnTo>
                  <a:pt x="0" y="3096660"/>
                </a:lnTo>
                <a:lnTo>
                  <a:pt x="0" y="0"/>
                </a:lnTo>
                <a:close/>
              </a:path>
            </a:pathLst>
          </a:custGeom>
          <a:blipFill>
            <a:blip r:embed="rId7"/>
            <a:stretch>
              <a:fillRect l="0" t="0" r="0" b="0"/>
            </a:stretch>
          </a:blipFill>
        </p:spPr>
      </p:sp>
      <p:sp>
        <p:nvSpPr>
          <p:cNvPr name="Freeform 51" id="51"/>
          <p:cNvSpPr/>
          <p:nvPr/>
        </p:nvSpPr>
        <p:spPr>
          <a:xfrm flipH="false" flipV="false" rot="0">
            <a:off x="22992840" y="10747435"/>
            <a:ext cx="8876302" cy="3713198"/>
          </a:xfrm>
          <a:custGeom>
            <a:avLst/>
            <a:gdLst/>
            <a:ahLst/>
            <a:cxnLst/>
            <a:rect r="r" b="b" t="t" l="l"/>
            <a:pathLst>
              <a:path h="3713198" w="8876302">
                <a:moveTo>
                  <a:pt x="0" y="0"/>
                </a:moveTo>
                <a:lnTo>
                  <a:pt x="8876302" y="0"/>
                </a:lnTo>
                <a:lnTo>
                  <a:pt x="8876302" y="3713198"/>
                </a:lnTo>
                <a:lnTo>
                  <a:pt x="0" y="3713198"/>
                </a:lnTo>
                <a:lnTo>
                  <a:pt x="0" y="0"/>
                </a:lnTo>
                <a:close/>
              </a:path>
            </a:pathLst>
          </a:custGeom>
          <a:blipFill>
            <a:blip r:embed="rId8"/>
            <a:stretch>
              <a:fillRect l="-5252" t="-20538" r="-121172" b="-217752"/>
            </a:stretch>
          </a:blipFill>
        </p:spPr>
      </p:sp>
      <p:sp>
        <p:nvSpPr>
          <p:cNvPr name="TextBox 52" id="52"/>
          <p:cNvSpPr txBox="true"/>
          <p:nvPr/>
        </p:nvSpPr>
        <p:spPr>
          <a:xfrm rot="0">
            <a:off x="34166385" y="26780348"/>
            <a:ext cx="8837844" cy="892175"/>
          </a:xfrm>
          <a:prstGeom prst="rect">
            <a:avLst/>
          </a:prstGeom>
        </p:spPr>
        <p:txBody>
          <a:bodyPr anchor="t" rtlCol="false" tIns="0" lIns="0" bIns="0" rIns="0">
            <a:spAutoFit/>
          </a:bodyPr>
          <a:lstStyle/>
          <a:p>
            <a:pPr algn="l">
              <a:lnSpc>
                <a:spcPts val="7000"/>
              </a:lnSpc>
            </a:pPr>
            <a:r>
              <a:rPr lang="en-US" sz="5000" b="true">
                <a:solidFill>
                  <a:srgbClr val="020C45"/>
                </a:solidFill>
                <a:latin typeface="Times New Roman Bold"/>
                <a:ea typeface="Times New Roman Bold"/>
                <a:cs typeface="Times New Roman Bold"/>
                <a:sym typeface="Times New Roman Bold"/>
              </a:rPr>
              <a:t>CODE &amp; IMPLEMENTATION</a:t>
            </a:r>
          </a:p>
        </p:txBody>
      </p:sp>
      <p:sp>
        <p:nvSpPr>
          <p:cNvPr name="TextBox 53" id="53"/>
          <p:cNvSpPr txBox="true"/>
          <p:nvPr/>
        </p:nvSpPr>
        <p:spPr>
          <a:xfrm rot="0">
            <a:off x="35494049" y="28245435"/>
            <a:ext cx="3091258" cy="2676525"/>
          </a:xfrm>
          <a:prstGeom prst="rect">
            <a:avLst/>
          </a:prstGeom>
        </p:spPr>
        <p:txBody>
          <a:bodyPr anchor="t" rtlCol="false" tIns="0" lIns="0" bIns="0" rIns="0">
            <a:spAutoFit/>
          </a:bodyPr>
          <a:lstStyle/>
          <a:p>
            <a:pPr algn="ctr">
              <a:lnSpc>
                <a:spcPts val="4200"/>
              </a:lnSpc>
              <a:spcBef>
                <a:spcPct val="0"/>
              </a:spcBef>
            </a:pPr>
            <a:r>
              <a:rPr lang="en-US" sz="3000">
                <a:solidFill>
                  <a:srgbClr val="000000"/>
                </a:solidFill>
                <a:latin typeface="Times New Roman"/>
                <a:ea typeface="Times New Roman"/>
                <a:cs typeface="Times New Roman"/>
                <a:sym typeface="Times New Roman"/>
              </a:rPr>
              <a:t>Scan to view the Full 8-</a:t>
            </a:r>
            <a:r>
              <a:rPr lang="en-US" sz="3000">
                <a:solidFill>
                  <a:srgbClr val="000000"/>
                </a:solidFill>
                <a:latin typeface="Times New Roman"/>
                <a:ea typeface="Times New Roman"/>
                <a:cs typeface="Times New Roman"/>
                <a:sym typeface="Times New Roman"/>
              </a:rPr>
              <a:t>agent Python pipeline </a:t>
            </a:r>
          </a:p>
          <a:p>
            <a:pPr algn="ctr">
              <a:lnSpc>
                <a:spcPts val="4200"/>
              </a:lnSpc>
              <a:spcBef>
                <a:spcPct val="0"/>
              </a:spcBef>
            </a:pPr>
            <a:r>
              <a:rPr lang="en-US" sz="3000">
                <a:solidFill>
                  <a:srgbClr val="000000"/>
                </a:solidFill>
                <a:latin typeface="Times New Roman"/>
                <a:ea typeface="Times New Roman"/>
                <a:cs typeface="Times New Roman"/>
                <a:sym typeface="Times New Roman"/>
              </a:rPr>
              <a:t>&amp; </a:t>
            </a:r>
          </a:p>
          <a:p>
            <a:pPr algn="ctr">
              <a:lnSpc>
                <a:spcPts val="4200"/>
              </a:lnSpc>
              <a:spcBef>
                <a:spcPct val="0"/>
              </a:spcBef>
            </a:pPr>
            <a:r>
              <a:rPr lang="en-US" sz="3000">
                <a:solidFill>
                  <a:srgbClr val="000000"/>
                </a:solidFill>
                <a:latin typeface="Times New Roman"/>
                <a:ea typeface="Times New Roman"/>
                <a:cs typeface="Times New Roman"/>
                <a:sym typeface="Times New Roman"/>
              </a:rPr>
              <a:t>UI source code.</a:t>
            </a:r>
          </a:p>
        </p:txBody>
      </p:sp>
      <p:sp>
        <p:nvSpPr>
          <p:cNvPr name="TextBox 54" id="54"/>
          <p:cNvSpPr txBox="true"/>
          <p:nvPr/>
        </p:nvSpPr>
        <p:spPr>
          <a:xfrm rot="0">
            <a:off x="1531173" y="2256169"/>
            <a:ext cx="6712404" cy="2390775"/>
          </a:xfrm>
          <a:prstGeom prst="rect">
            <a:avLst/>
          </a:prstGeom>
        </p:spPr>
        <p:txBody>
          <a:bodyPr anchor="t" rtlCol="false" tIns="0" lIns="0" bIns="0" rIns="0">
            <a:spAutoFit/>
          </a:bodyPr>
          <a:lstStyle/>
          <a:p>
            <a:pPr algn="ctr">
              <a:lnSpc>
                <a:spcPts val="6299"/>
              </a:lnSpc>
              <a:spcBef>
                <a:spcPct val="0"/>
              </a:spcBef>
            </a:pPr>
            <a:r>
              <a:rPr lang="en-US" b="true" sz="4500">
                <a:solidFill>
                  <a:srgbClr val="000000"/>
                </a:solidFill>
                <a:latin typeface="Times New Roman Bold"/>
                <a:ea typeface="Times New Roman Bold"/>
                <a:cs typeface="Times New Roman Bold"/>
                <a:sym typeface="Times New Roman Bold"/>
              </a:rPr>
              <a:t>Course Name:</a:t>
            </a:r>
            <a:r>
              <a:rPr lang="en-US" sz="4500">
                <a:solidFill>
                  <a:srgbClr val="000000"/>
                </a:solidFill>
                <a:latin typeface="Times New Roman"/>
                <a:ea typeface="Times New Roman"/>
                <a:cs typeface="Times New Roman"/>
                <a:sym typeface="Times New Roman"/>
              </a:rPr>
              <a:t> Artificial Intelligence Laboratory</a:t>
            </a:r>
          </a:p>
          <a:p>
            <a:pPr algn="ctr">
              <a:lnSpc>
                <a:spcPts val="6299"/>
              </a:lnSpc>
              <a:spcBef>
                <a:spcPct val="0"/>
              </a:spcBef>
            </a:pPr>
            <a:r>
              <a:rPr lang="en-US" b="true" sz="4500">
                <a:solidFill>
                  <a:srgbClr val="000000"/>
                </a:solidFill>
                <a:latin typeface="Times New Roman Bold"/>
                <a:ea typeface="Times New Roman Bold"/>
                <a:cs typeface="Times New Roman Bold"/>
                <a:sym typeface="Times New Roman Bold"/>
              </a:rPr>
              <a:t>Course Code: </a:t>
            </a:r>
            <a:r>
              <a:rPr lang="en-US" sz="4500">
                <a:solidFill>
                  <a:srgbClr val="000000"/>
                </a:solidFill>
                <a:latin typeface="Times New Roman"/>
                <a:ea typeface="Times New Roman"/>
                <a:cs typeface="Times New Roman"/>
                <a:sym typeface="Times New Roman"/>
              </a:rPr>
              <a:t>CSE-4202</a:t>
            </a:r>
          </a:p>
        </p:txBody>
      </p:sp>
      <p:sp>
        <p:nvSpPr>
          <p:cNvPr name="TextBox 55" id="55"/>
          <p:cNvSpPr txBox="true"/>
          <p:nvPr/>
        </p:nvSpPr>
        <p:spPr>
          <a:xfrm rot="0">
            <a:off x="34820621" y="2256169"/>
            <a:ext cx="8632439" cy="2390775"/>
          </a:xfrm>
          <a:prstGeom prst="rect">
            <a:avLst/>
          </a:prstGeom>
        </p:spPr>
        <p:txBody>
          <a:bodyPr anchor="t" rtlCol="false" tIns="0" lIns="0" bIns="0" rIns="0">
            <a:spAutoFit/>
          </a:bodyPr>
          <a:lstStyle/>
          <a:p>
            <a:pPr algn="ctr">
              <a:lnSpc>
                <a:spcPts val="6299"/>
              </a:lnSpc>
              <a:spcBef>
                <a:spcPct val="0"/>
              </a:spcBef>
            </a:pPr>
            <a:r>
              <a:rPr lang="en-US" b="true" sz="4500">
                <a:solidFill>
                  <a:srgbClr val="000000"/>
                </a:solidFill>
                <a:latin typeface="Times New Roman Bold"/>
                <a:ea typeface="Times New Roman Bold"/>
                <a:cs typeface="Times New Roman Bold"/>
                <a:sym typeface="Times New Roman Bold"/>
              </a:rPr>
              <a:t>Lecturer </a:t>
            </a:r>
            <a:r>
              <a:rPr lang="en-US" b="true" sz="4500">
                <a:solidFill>
                  <a:srgbClr val="000000"/>
                </a:solidFill>
                <a:latin typeface="Times New Roman Bold"/>
                <a:ea typeface="Times New Roman Bold"/>
                <a:cs typeface="Times New Roman Bold"/>
                <a:sym typeface="Times New Roman Bold"/>
              </a:rPr>
              <a:t>Sayma Alam Suha</a:t>
            </a:r>
          </a:p>
          <a:p>
            <a:pPr algn="ctr">
              <a:lnSpc>
                <a:spcPts val="6299"/>
              </a:lnSpc>
              <a:spcBef>
                <a:spcPct val="0"/>
              </a:spcBef>
            </a:pPr>
            <a:r>
              <a:rPr lang="en-US" sz="4500">
                <a:solidFill>
                  <a:srgbClr val="000000"/>
                </a:solidFill>
                <a:latin typeface="Times New Roman"/>
                <a:ea typeface="Times New Roman"/>
                <a:cs typeface="Times New Roman"/>
                <a:sym typeface="Times New Roman"/>
              </a:rPr>
              <a:t> &amp;</a:t>
            </a:r>
          </a:p>
          <a:p>
            <a:pPr algn="ctr">
              <a:lnSpc>
                <a:spcPts val="6299"/>
              </a:lnSpc>
              <a:spcBef>
                <a:spcPct val="0"/>
              </a:spcBef>
            </a:pPr>
            <a:r>
              <a:rPr lang="en-US" b="true" sz="4500">
                <a:solidFill>
                  <a:srgbClr val="000000"/>
                </a:solidFill>
                <a:latin typeface="Times New Roman Bold"/>
                <a:ea typeface="Times New Roman Bold"/>
                <a:cs typeface="Times New Roman Bold"/>
                <a:sym typeface="Times New Roman Bold"/>
              </a:rPr>
              <a:t>Lecturer Md. Mahabubur Rahman</a:t>
            </a:r>
          </a:p>
        </p:txBody>
      </p:sp>
      <p:grpSp>
        <p:nvGrpSpPr>
          <p:cNvPr name="Group 56" id="56"/>
          <p:cNvGrpSpPr/>
          <p:nvPr/>
        </p:nvGrpSpPr>
        <p:grpSpPr>
          <a:xfrm rot="0">
            <a:off x="9917845" y="240374"/>
            <a:ext cx="24248540" cy="5689270"/>
            <a:chOff x="0" y="0"/>
            <a:chExt cx="32331387" cy="7585693"/>
          </a:xfrm>
        </p:grpSpPr>
        <p:sp>
          <p:nvSpPr>
            <p:cNvPr name="TextBox 57" id="57"/>
            <p:cNvSpPr txBox="true"/>
            <p:nvPr/>
          </p:nvSpPr>
          <p:spPr>
            <a:xfrm rot="0">
              <a:off x="0" y="-190500"/>
              <a:ext cx="32331387" cy="3479800"/>
            </a:xfrm>
            <a:prstGeom prst="rect">
              <a:avLst/>
            </a:prstGeom>
          </p:spPr>
          <p:txBody>
            <a:bodyPr anchor="t" rtlCol="false" tIns="0" lIns="0" bIns="0" rIns="0">
              <a:spAutoFit/>
            </a:bodyPr>
            <a:lstStyle/>
            <a:p>
              <a:pPr algn="ctr">
                <a:lnSpc>
                  <a:spcPts val="11200"/>
                </a:lnSpc>
                <a:spcBef>
                  <a:spcPct val="0"/>
                </a:spcBef>
              </a:pPr>
              <a:r>
                <a:rPr lang="en-US" b="true" sz="8000">
                  <a:solidFill>
                    <a:srgbClr val="000000"/>
                  </a:solidFill>
                  <a:latin typeface="Times New Roman Bold"/>
                  <a:ea typeface="Times New Roman Bold"/>
                  <a:cs typeface="Times New Roman Bold"/>
                  <a:sym typeface="Times New Roman Bold"/>
                </a:rPr>
                <a:t>Ca</a:t>
              </a:r>
              <a:r>
                <a:rPr lang="en-US" b="true" sz="8000">
                  <a:solidFill>
                    <a:srgbClr val="000000"/>
                  </a:solidFill>
                  <a:latin typeface="Times New Roman Bold"/>
                  <a:ea typeface="Times New Roman Bold"/>
                  <a:cs typeface="Times New Roman Bold"/>
                  <a:sym typeface="Times New Roman Bold"/>
                </a:rPr>
                <a:t>usal AI Debate Judge:</a:t>
              </a:r>
            </a:p>
            <a:p>
              <a:pPr algn="ctr">
                <a:lnSpc>
                  <a:spcPts val="9799"/>
                </a:lnSpc>
                <a:spcBef>
                  <a:spcPct val="0"/>
                </a:spcBef>
              </a:pPr>
              <a:r>
                <a:rPr lang="en-US" sz="6999">
                  <a:solidFill>
                    <a:srgbClr val="000000"/>
                  </a:solidFill>
                  <a:latin typeface="Times New Roman"/>
                  <a:ea typeface="Times New Roman"/>
                  <a:cs typeface="Times New Roman"/>
                  <a:sym typeface="Times New Roman"/>
                </a:rPr>
                <a:t>A Multi-Agent Framework for Explainable Argument Analysis</a:t>
              </a:r>
            </a:p>
          </p:txBody>
        </p:sp>
        <p:sp>
          <p:nvSpPr>
            <p:cNvPr name="TextBox 58" id="58"/>
            <p:cNvSpPr txBox="true"/>
            <p:nvPr/>
          </p:nvSpPr>
          <p:spPr>
            <a:xfrm rot="0">
              <a:off x="0" y="3506453"/>
              <a:ext cx="32331387" cy="2699173"/>
            </a:xfrm>
            <a:prstGeom prst="rect">
              <a:avLst/>
            </a:prstGeom>
          </p:spPr>
          <p:txBody>
            <a:bodyPr anchor="t" rtlCol="false" tIns="0" lIns="0" bIns="0" rIns="0">
              <a:spAutoFit/>
            </a:bodyPr>
            <a:lstStyle/>
            <a:p>
              <a:pPr algn="ctr">
                <a:lnSpc>
                  <a:spcPts val="8119"/>
                </a:lnSpc>
                <a:spcBef>
                  <a:spcPct val="0"/>
                </a:spcBef>
              </a:pPr>
              <a:r>
                <a:rPr lang="en-US" b="true" sz="5799">
                  <a:solidFill>
                    <a:srgbClr val="000000"/>
                  </a:solidFill>
                  <a:latin typeface="Times New Roman Bold"/>
                  <a:ea typeface="Times New Roman Bold"/>
                  <a:cs typeface="Times New Roman Bold"/>
                  <a:sym typeface="Times New Roman Bold"/>
                </a:rPr>
                <a:t>Md. Refayat</a:t>
              </a:r>
              <a:r>
                <a:rPr lang="en-US" b="true" sz="5799">
                  <a:solidFill>
                    <a:srgbClr val="000000"/>
                  </a:solidFill>
                  <a:latin typeface="Times New Roman Bold"/>
                  <a:ea typeface="Times New Roman Bold"/>
                  <a:cs typeface="Times New Roman Bold"/>
                  <a:sym typeface="Times New Roman Bold"/>
                </a:rPr>
                <a:t>ul Islam (2252421059), Md. Sakib Hasan (2252421083), Shahariar Hossain (2252421085), Rashik Mahmud Majumder (2252421097)</a:t>
              </a:r>
            </a:p>
          </p:txBody>
        </p:sp>
        <p:sp>
          <p:nvSpPr>
            <p:cNvPr name="TextBox 59" id="59"/>
            <p:cNvSpPr txBox="true"/>
            <p:nvPr/>
          </p:nvSpPr>
          <p:spPr>
            <a:xfrm rot="0">
              <a:off x="0" y="6450101"/>
              <a:ext cx="32331387" cy="1135592"/>
            </a:xfrm>
            <a:prstGeom prst="rect">
              <a:avLst/>
            </a:prstGeom>
          </p:spPr>
          <p:txBody>
            <a:bodyPr anchor="t" rtlCol="false" tIns="0" lIns="0" bIns="0" rIns="0">
              <a:spAutoFit/>
            </a:bodyPr>
            <a:lstStyle/>
            <a:p>
              <a:pPr algn="ctr">
                <a:lnSpc>
                  <a:spcPts val="6999"/>
                </a:lnSpc>
                <a:spcBef>
                  <a:spcPct val="0"/>
                </a:spcBef>
              </a:pPr>
              <a:r>
                <a:rPr lang="en-US" sz="4999">
                  <a:solidFill>
                    <a:srgbClr val="000000"/>
                  </a:solidFill>
                  <a:latin typeface="Times New Roman"/>
                  <a:ea typeface="Times New Roman"/>
                  <a:cs typeface="Times New Roman"/>
                  <a:sym typeface="Times New Roman"/>
                </a:rPr>
                <a:t>Department of Computer Science and Engineering, Bangladesh University of Professionals</a:t>
              </a:r>
            </a:p>
          </p:txBody>
        </p:sp>
      </p:grpSp>
      <p:sp>
        <p:nvSpPr>
          <p:cNvPr name="TextBox 60" id="60"/>
          <p:cNvSpPr txBox="true"/>
          <p:nvPr/>
        </p:nvSpPr>
        <p:spPr>
          <a:xfrm rot="0">
            <a:off x="1056355" y="8547160"/>
            <a:ext cx="8764975" cy="6410325"/>
          </a:xfrm>
          <a:prstGeom prst="rect">
            <a:avLst/>
          </a:prstGeom>
        </p:spPr>
        <p:txBody>
          <a:bodyPr anchor="t" rtlCol="false" tIns="0" lIns="0" bIns="0" rIns="0">
            <a:spAutoFit/>
          </a:bodyPr>
          <a:lstStyle/>
          <a:p>
            <a:pPr algn="just">
              <a:lnSpc>
                <a:spcPts val="4200"/>
              </a:lnSpc>
              <a:spcBef>
                <a:spcPct val="0"/>
              </a:spcBef>
            </a:pPr>
            <a:r>
              <a:rPr lang="en-US" sz="3000">
                <a:solidFill>
                  <a:srgbClr val="000000"/>
                </a:solidFill>
                <a:latin typeface="Times New Roman"/>
                <a:ea typeface="Times New Roman"/>
                <a:cs typeface="Times New Roman"/>
                <a:sym typeface="Times New Roman"/>
              </a:rPr>
              <a:t>Large Language M</a:t>
            </a:r>
            <a:r>
              <a:rPr lang="en-US" sz="3000">
                <a:solidFill>
                  <a:srgbClr val="000000"/>
                </a:solidFill>
                <a:latin typeface="Times New Roman"/>
                <a:ea typeface="Times New Roman"/>
                <a:cs typeface="Times New Roman"/>
                <a:sym typeface="Times New Roman"/>
              </a:rPr>
              <a:t>odels (LLMs) are very good models but their debate evaluations tend to be "black box" giving scores without any explanation. To address the problem we propose the Causal AI Debate Judge. This scheme decomposes analysis of arguments into discrete steps that are easily understood. Our system enables AI to be a reliable and structured judge by mapping cause-and-effect relationships, identifying logical fallacies and assessing the quality of evidence. It gives detailed scores, discusses alternative choices, and also provides analytical feedback and establishing a new benchmark in the clear and outlined debate on AI.</a:t>
            </a:r>
          </a:p>
        </p:txBody>
      </p:sp>
      <p:sp>
        <p:nvSpPr>
          <p:cNvPr name="TextBox 61" id="61"/>
          <p:cNvSpPr txBox="true"/>
          <p:nvPr/>
        </p:nvSpPr>
        <p:spPr>
          <a:xfrm rot="0">
            <a:off x="12019999" y="20188009"/>
            <a:ext cx="8876302" cy="1076325"/>
          </a:xfrm>
          <a:prstGeom prst="rect">
            <a:avLst/>
          </a:prstGeom>
        </p:spPr>
        <p:txBody>
          <a:bodyPr anchor="t" rtlCol="false" tIns="0" lIns="0" bIns="0" rIns="0">
            <a:spAutoFit/>
          </a:bodyPr>
          <a:lstStyle/>
          <a:p>
            <a:pPr algn="ctr">
              <a:lnSpc>
                <a:spcPts val="4200"/>
              </a:lnSpc>
            </a:pPr>
            <a:r>
              <a:rPr lang="en-US" sz="3000" b="true">
                <a:solidFill>
                  <a:srgbClr val="000000"/>
                </a:solidFill>
                <a:latin typeface="Times New Roman Bold"/>
                <a:ea typeface="Times New Roman Bold"/>
                <a:cs typeface="Times New Roman Bold"/>
                <a:sym typeface="Times New Roman Bold"/>
              </a:rPr>
              <a:t>Figure-01: </a:t>
            </a:r>
            <a:r>
              <a:rPr lang="en-US" sz="3000">
                <a:solidFill>
                  <a:srgbClr val="000000"/>
                </a:solidFill>
                <a:latin typeface="Times New Roman"/>
                <a:ea typeface="Times New Roman"/>
                <a:cs typeface="Times New Roman"/>
                <a:sym typeface="Times New Roman"/>
              </a:rPr>
              <a:t>Architectural Schematic of the 8-Agent Orchestration Pipeline</a:t>
            </a:r>
          </a:p>
        </p:txBody>
      </p:sp>
      <p:sp>
        <p:nvSpPr>
          <p:cNvPr name="TextBox 62" id="62"/>
          <p:cNvSpPr txBox="true"/>
          <p:nvPr/>
        </p:nvSpPr>
        <p:spPr>
          <a:xfrm rot="0">
            <a:off x="12019999" y="21454834"/>
            <a:ext cx="8876302" cy="2143125"/>
          </a:xfrm>
          <a:prstGeom prst="rect">
            <a:avLst/>
          </a:prstGeom>
        </p:spPr>
        <p:txBody>
          <a:bodyPr anchor="t" rtlCol="false" tIns="0" lIns="0" bIns="0" rIns="0">
            <a:spAutoFit/>
          </a:bodyPr>
          <a:lstStyle/>
          <a:p>
            <a:pPr algn="just" marL="647700" indent="-323850" lvl="1">
              <a:lnSpc>
                <a:spcPts val="4200"/>
              </a:lnSpc>
              <a:buFont typeface="Arial"/>
              <a:buChar char="•"/>
            </a:pPr>
            <a:r>
              <a:rPr lang="en-US" b="true" sz="3000">
                <a:solidFill>
                  <a:srgbClr val="000000"/>
                </a:solidFill>
                <a:latin typeface="Times New Roman Bold"/>
                <a:ea typeface="Times New Roman Bold"/>
                <a:cs typeface="Times New Roman Bold"/>
                <a:sym typeface="Times New Roman Bold"/>
              </a:rPr>
              <a:t>Six-Point</a:t>
            </a:r>
            <a:r>
              <a:rPr lang="en-US" b="true" sz="3000">
                <a:solidFill>
                  <a:srgbClr val="000000"/>
                </a:solidFill>
                <a:latin typeface="Times New Roman Bold"/>
                <a:ea typeface="Times New Roman Bold"/>
                <a:cs typeface="Times New Roman Bold"/>
                <a:sym typeface="Times New Roman Bold"/>
              </a:rPr>
              <a:t> Evaluative Matrix:</a:t>
            </a:r>
            <a:r>
              <a:rPr lang="en-US" sz="3000">
                <a:solidFill>
                  <a:srgbClr val="000000"/>
                </a:solidFill>
                <a:latin typeface="Times New Roman"/>
                <a:ea typeface="Times New Roman"/>
                <a:cs typeface="Times New Roman"/>
                <a:sym typeface="Times New Roman"/>
              </a:rPr>
              <a:t> The framework calculates a normalized 100-point scalar score by distributing evaluative weight across six orthogonal dimensions, severely penalizing logical fragility:</a:t>
            </a:r>
          </a:p>
        </p:txBody>
      </p:sp>
      <p:sp>
        <p:nvSpPr>
          <p:cNvPr name="TextBox 63" id="63"/>
          <p:cNvSpPr txBox="true"/>
          <p:nvPr/>
        </p:nvSpPr>
        <p:spPr>
          <a:xfrm rot="0">
            <a:off x="12026656" y="23788459"/>
            <a:ext cx="8876302" cy="1076325"/>
          </a:xfrm>
          <a:prstGeom prst="rect">
            <a:avLst/>
          </a:prstGeom>
        </p:spPr>
        <p:txBody>
          <a:bodyPr anchor="t" rtlCol="false" tIns="0" lIns="0" bIns="0" rIns="0">
            <a:spAutoFit/>
          </a:bodyPr>
          <a:lstStyle/>
          <a:p>
            <a:pPr algn="ctr">
              <a:lnSpc>
                <a:spcPts val="4200"/>
              </a:lnSpc>
            </a:pPr>
            <a:r>
              <a:rPr lang="en-US" sz="3000" b="true">
                <a:solidFill>
                  <a:srgbClr val="000000"/>
                </a:solidFill>
                <a:latin typeface="Times New Roman Bold"/>
                <a:ea typeface="Times New Roman Bold"/>
                <a:cs typeface="Times New Roman Bold"/>
                <a:sym typeface="Times New Roman Bold"/>
              </a:rPr>
              <a:t>Table-01: </a:t>
            </a:r>
            <a:r>
              <a:rPr lang="en-US" sz="3000">
                <a:solidFill>
                  <a:srgbClr val="000000"/>
                </a:solidFill>
                <a:latin typeface="Times New Roman"/>
                <a:ea typeface="Times New Roman"/>
                <a:cs typeface="Times New Roman"/>
                <a:sym typeface="Times New Roman"/>
              </a:rPr>
              <a:t>Evaluation Metrices and Their Dedicated Criteria and Score</a:t>
            </a:r>
          </a:p>
        </p:txBody>
      </p:sp>
      <p:sp>
        <p:nvSpPr>
          <p:cNvPr name="TextBox 64" id="64"/>
          <p:cNvSpPr txBox="true"/>
          <p:nvPr/>
        </p:nvSpPr>
        <p:spPr>
          <a:xfrm rot="0">
            <a:off x="23002365" y="10109260"/>
            <a:ext cx="8876302" cy="542925"/>
          </a:xfrm>
          <a:prstGeom prst="rect">
            <a:avLst/>
          </a:prstGeom>
        </p:spPr>
        <p:txBody>
          <a:bodyPr anchor="t" rtlCol="false" tIns="0" lIns="0" bIns="0" rIns="0">
            <a:spAutoFit/>
          </a:bodyPr>
          <a:lstStyle/>
          <a:p>
            <a:pPr algn="ctr">
              <a:lnSpc>
                <a:spcPts val="4200"/>
              </a:lnSpc>
            </a:pPr>
            <a:r>
              <a:rPr lang="en-US" sz="3000" b="true">
                <a:solidFill>
                  <a:srgbClr val="000000"/>
                </a:solidFill>
                <a:latin typeface="Times New Roman Bold"/>
                <a:ea typeface="Times New Roman Bold"/>
                <a:cs typeface="Times New Roman Bold"/>
                <a:sym typeface="Times New Roman Bold"/>
              </a:rPr>
              <a:t>Table-02: </a:t>
            </a:r>
            <a:r>
              <a:rPr lang="en-US" sz="3000">
                <a:solidFill>
                  <a:srgbClr val="000000"/>
                </a:solidFill>
                <a:latin typeface="Times New Roman"/>
                <a:ea typeface="Times New Roman"/>
                <a:cs typeface="Times New Roman"/>
                <a:sym typeface="Times New Roman"/>
              </a:rPr>
              <a:t>Technological Stacks</a:t>
            </a:r>
          </a:p>
        </p:txBody>
      </p:sp>
      <p:sp>
        <p:nvSpPr>
          <p:cNvPr name="TextBox 65" id="65"/>
          <p:cNvSpPr txBox="true"/>
          <p:nvPr/>
        </p:nvSpPr>
        <p:spPr>
          <a:xfrm rot="0">
            <a:off x="23097615" y="23891607"/>
            <a:ext cx="8876302" cy="542925"/>
          </a:xfrm>
          <a:prstGeom prst="rect">
            <a:avLst/>
          </a:prstGeom>
        </p:spPr>
        <p:txBody>
          <a:bodyPr anchor="t" rtlCol="false" tIns="0" lIns="0" bIns="0" rIns="0">
            <a:spAutoFit/>
          </a:bodyPr>
          <a:lstStyle/>
          <a:p>
            <a:pPr algn="ctr">
              <a:lnSpc>
                <a:spcPts val="4200"/>
              </a:lnSpc>
            </a:pPr>
            <a:r>
              <a:rPr lang="en-US" sz="3000" b="true">
                <a:solidFill>
                  <a:srgbClr val="000000"/>
                </a:solidFill>
                <a:latin typeface="Times New Roman Bold"/>
                <a:ea typeface="Times New Roman Bold"/>
                <a:cs typeface="Times New Roman Bold"/>
                <a:sym typeface="Times New Roman Bold"/>
              </a:rPr>
              <a:t>Figure-02: </a:t>
            </a:r>
            <a:r>
              <a:rPr lang="en-US" sz="3000">
                <a:solidFill>
                  <a:srgbClr val="000000"/>
                </a:solidFill>
                <a:latin typeface="Times New Roman"/>
                <a:ea typeface="Times New Roman"/>
                <a:cs typeface="Times New Roman"/>
                <a:sym typeface="Times New Roman"/>
              </a:rPr>
              <a:t>Score Comparison Radar</a:t>
            </a:r>
          </a:p>
        </p:txBody>
      </p:sp>
      <p:sp>
        <p:nvSpPr>
          <p:cNvPr name="TextBox 66" id="66"/>
          <p:cNvSpPr txBox="true"/>
          <p:nvPr/>
        </p:nvSpPr>
        <p:spPr>
          <a:xfrm rot="0">
            <a:off x="23097615" y="24466719"/>
            <a:ext cx="8876302" cy="1609725"/>
          </a:xfrm>
          <a:prstGeom prst="rect">
            <a:avLst/>
          </a:prstGeom>
        </p:spPr>
        <p:txBody>
          <a:bodyPr anchor="t" rtlCol="false" tIns="0" lIns="0" bIns="0" rIns="0">
            <a:spAutoFit/>
          </a:bodyPr>
          <a:lstStyle/>
          <a:p>
            <a:pPr algn="just" marL="647700" indent="-323850" lvl="1">
              <a:lnSpc>
                <a:spcPts val="4200"/>
              </a:lnSpc>
              <a:buFont typeface="Arial"/>
              <a:buChar char="•"/>
            </a:pPr>
            <a:r>
              <a:rPr lang="en-US" b="true" sz="3000">
                <a:solidFill>
                  <a:srgbClr val="000000"/>
                </a:solidFill>
                <a:latin typeface="Times New Roman Bold"/>
                <a:ea typeface="Times New Roman Bold"/>
                <a:cs typeface="Times New Roman Bold"/>
                <a:sym typeface="Times New Roman Bold"/>
              </a:rPr>
              <a:t>AI Confidence Score &amp;</a:t>
            </a:r>
            <a:r>
              <a:rPr lang="en-US" b="true" sz="3000">
                <a:solidFill>
                  <a:srgbClr val="000000"/>
                </a:solidFill>
                <a:latin typeface="Times New Roman Bold"/>
                <a:ea typeface="Times New Roman Bold"/>
                <a:cs typeface="Times New Roman Bold"/>
                <a:sym typeface="Times New Roman Bold"/>
              </a:rPr>
              <a:t> Pipeline Speed:</a:t>
            </a:r>
            <a:r>
              <a:rPr lang="en-US" sz="3000">
                <a:solidFill>
                  <a:srgbClr val="000000"/>
                </a:solidFill>
                <a:latin typeface="Times New Roman"/>
                <a:ea typeface="Times New Roman"/>
                <a:cs typeface="Times New Roman"/>
                <a:sym typeface="Times New Roman"/>
              </a:rPr>
              <a:t> Real-time data showing a 75/100 confidence score and a total processing time of 102.48s.</a:t>
            </a:r>
          </a:p>
        </p:txBody>
      </p:sp>
      <p:sp>
        <p:nvSpPr>
          <p:cNvPr name="TextBox 67" id="67"/>
          <p:cNvSpPr txBox="true"/>
          <p:nvPr/>
        </p:nvSpPr>
        <p:spPr>
          <a:xfrm rot="0">
            <a:off x="23097615" y="31308244"/>
            <a:ext cx="8876302" cy="542925"/>
          </a:xfrm>
          <a:prstGeom prst="rect">
            <a:avLst/>
          </a:prstGeom>
        </p:spPr>
        <p:txBody>
          <a:bodyPr anchor="t" rtlCol="false" tIns="0" lIns="0" bIns="0" rIns="0">
            <a:spAutoFit/>
          </a:bodyPr>
          <a:lstStyle/>
          <a:p>
            <a:pPr algn="ctr">
              <a:lnSpc>
                <a:spcPts val="4200"/>
              </a:lnSpc>
            </a:pPr>
            <a:r>
              <a:rPr lang="en-US" sz="3000" b="true">
                <a:solidFill>
                  <a:srgbClr val="000000"/>
                </a:solidFill>
                <a:latin typeface="Times New Roman Bold"/>
                <a:ea typeface="Times New Roman Bold"/>
                <a:cs typeface="Times New Roman Bold"/>
                <a:sym typeface="Times New Roman Bold"/>
              </a:rPr>
              <a:t>Figure-03:</a:t>
            </a:r>
            <a:r>
              <a:rPr lang="en-US" sz="3000">
                <a:solidFill>
                  <a:srgbClr val="000000"/>
                </a:solidFill>
                <a:latin typeface="Times New Roman"/>
                <a:ea typeface="Times New Roman"/>
                <a:cs typeface="Times New Roman"/>
                <a:sym typeface="Times New Roman"/>
              </a:rPr>
              <a:t> AI Confidence &amp; Pipeline Speed</a:t>
            </a:r>
          </a:p>
        </p:txBody>
      </p:sp>
      <p:sp>
        <p:nvSpPr>
          <p:cNvPr name="TextBox 68" id="68"/>
          <p:cNvSpPr txBox="true"/>
          <p:nvPr/>
        </p:nvSpPr>
        <p:spPr>
          <a:xfrm rot="0">
            <a:off x="33965655" y="7204894"/>
            <a:ext cx="8876302" cy="2676525"/>
          </a:xfrm>
          <a:prstGeom prst="rect">
            <a:avLst/>
          </a:prstGeom>
        </p:spPr>
        <p:txBody>
          <a:bodyPr anchor="t" rtlCol="false" tIns="0" lIns="0" bIns="0" rIns="0">
            <a:spAutoFit/>
          </a:bodyPr>
          <a:lstStyle/>
          <a:p>
            <a:pPr algn="just" marL="647700" indent="-323850" lvl="1">
              <a:lnSpc>
                <a:spcPts val="4200"/>
              </a:lnSpc>
              <a:buFont typeface="Arial"/>
              <a:buChar char="•"/>
            </a:pPr>
            <a:r>
              <a:rPr lang="en-US" b="true" sz="3000">
                <a:solidFill>
                  <a:srgbClr val="000000"/>
                </a:solidFill>
                <a:latin typeface="Times New Roman Bold"/>
                <a:ea typeface="Times New Roman Bold"/>
                <a:cs typeface="Times New Roman Bold"/>
                <a:sym typeface="Times New Roman Bold"/>
              </a:rPr>
              <a:t>Mode</a:t>
            </a:r>
            <a:r>
              <a:rPr lang="en-US" b="true" sz="3000">
                <a:solidFill>
                  <a:srgbClr val="000000"/>
                </a:solidFill>
                <a:latin typeface="Times New Roman Bold"/>
                <a:ea typeface="Times New Roman Bold"/>
                <a:cs typeface="Times New Roman Bold"/>
                <a:sym typeface="Times New Roman Bold"/>
              </a:rPr>
              <a:t>l Performance Benchmarking: </a:t>
            </a:r>
            <a:r>
              <a:rPr lang="en-US" sz="3000">
                <a:solidFill>
                  <a:srgbClr val="000000"/>
                </a:solidFill>
                <a:latin typeface="Times New Roman"/>
                <a:ea typeface="Times New Roman"/>
                <a:cs typeface="Times New Roman"/>
                <a:sym typeface="Times New Roman"/>
              </a:rPr>
              <a:t>Across 20 simulated debates, the Groq/LLaMA 3 pipeline processed nearly 2x faster, while Google Gemini achieved slightly higher AI confidence through deeper contextual synthesis.</a:t>
            </a:r>
          </a:p>
        </p:txBody>
      </p:sp>
      <p:sp>
        <p:nvSpPr>
          <p:cNvPr name="TextBox 69" id="69"/>
          <p:cNvSpPr txBox="true"/>
          <p:nvPr/>
        </p:nvSpPr>
        <p:spPr>
          <a:xfrm rot="0">
            <a:off x="34022805" y="15947884"/>
            <a:ext cx="8876302" cy="1076325"/>
          </a:xfrm>
          <a:prstGeom prst="rect">
            <a:avLst/>
          </a:prstGeom>
        </p:spPr>
        <p:txBody>
          <a:bodyPr anchor="t" rtlCol="false" tIns="0" lIns="0" bIns="0" rIns="0">
            <a:spAutoFit/>
          </a:bodyPr>
          <a:lstStyle/>
          <a:p>
            <a:pPr algn="ctr">
              <a:lnSpc>
                <a:spcPts val="4200"/>
              </a:lnSpc>
            </a:pPr>
            <a:r>
              <a:rPr lang="en-US" sz="3000" b="true">
                <a:solidFill>
                  <a:srgbClr val="000000"/>
                </a:solidFill>
                <a:latin typeface="Times New Roman Bold"/>
                <a:ea typeface="Times New Roman Bold"/>
                <a:cs typeface="Times New Roman Bold"/>
                <a:sym typeface="Times New Roman Bold"/>
              </a:rPr>
              <a:t>Figure-04: </a:t>
            </a:r>
            <a:r>
              <a:rPr lang="en-US" sz="3000">
                <a:solidFill>
                  <a:srgbClr val="000000"/>
                </a:solidFill>
                <a:latin typeface="Times New Roman"/>
                <a:ea typeface="Times New Roman"/>
                <a:cs typeface="Times New Roman"/>
                <a:sym typeface="Times New Roman"/>
              </a:rPr>
              <a:t>Model Performance Benchmarking (n=20 Debates)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DAHJJt_-aGg</dc:identifier>
  <dcterms:modified xsi:type="dcterms:W3CDTF">2011-08-01T06:04:30Z</dcterms:modified>
  <cp:revision>1</cp:revision>
  <dc:title>PosterPresentations.com-36x48-Template-Newfield.pptx (48 x 36 in)</dc:title>
</cp:coreProperties>
</file>